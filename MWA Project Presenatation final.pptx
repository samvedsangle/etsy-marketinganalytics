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256" r:id="rId5"/>
    <p:sldId id="3849" r:id="rId6"/>
    <p:sldId id="3846" r:id="rId7"/>
    <p:sldId id="261" r:id="rId8"/>
    <p:sldId id="265" r:id="rId9"/>
    <p:sldId id="3851" r:id="rId10"/>
    <p:sldId id="268" r:id="rId11"/>
    <p:sldId id="267" r:id="rId12"/>
    <p:sldId id="3852" r:id="rId13"/>
    <p:sldId id="3853" r:id="rId14"/>
    <p:sldId id="3857" r:id="rId15"/>
    <p:sldId id="3858" r:id="rId16"/>
    <p:sldId id="3854" r:id="rId17"/>
    <p:sldId id="3859" r:id="rId18"/>
    <p:sldId id="3855" r:id="rId19"/>
    <p:sldId id="3860" r:id="rId20"/>
    <p:sldId id="3856" r:id="rId21"/>
    <p:sldId id="3862" r:id="rId22"/>
    <p:sldId id="3863" r:id="rId23"/>
    <p:sldId id="3864" r:id="rId24"/>
    <p:sldId id="38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ED0FCA-4BF8-9E4B-8AE4-7EF009EDDAD3}" v="1522" dt="2024-05-01T10:26:28.026"/>
  </p1510:revLst>
</p1510:revInfo>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82"/>
  </p:normalViewPr>
  <p:slideViewPr>
    <p:cSldViewPr snapToGrid="0">
      <p:cViewPr>
        <p:scale>
          <a:sx n="99" d="100"/>
          <a:sy n="99" d="100"/>
        </p:scale>
        <p:origin x="1160" y="43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43664212270558"/>
          <c:y val="8.0525484165252931E-2"/>
          <c:w val="0.50701675627368969"/>
          <c:h val="0.77585913850715404"/>
        </c:manualLayout>
      </c:layout>
      <c:pieChart>
        <c:varyColors val="1"/>
        <c:ser>
          <c:idx val="0"/>
          <c:order val="0"/>
          <c:tx>
            <c:strRef>
              <c:f>Sheet1!$B$1</c:f>
              <c:strCache>
                <c:ptCount val="1"/>
                <c:pt idx="0">
                  <c:v>Oct-21</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5D8-554E-A45B-1FA49B9B75F1}"/>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F5D8-554E-A45B-1FA49B9B75F1}"/>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5D8-554E-A45B-1FA49B9B75F1}"/>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F5D8-554E-A45B-1FA49B9B75F1}"/>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4-F5D8-554E-A45B-1FA49B9B75F1}"/>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6-F5D8-554E-A45B-1FA49B9B75F1}"/>
              </c:ext>
            </c:extLst>
          </c:dPt>
          <c:dPt>
            <c:idx val="6"/>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F5D8-554E-A45B-1FA49B9B75F1}"/>
              </c:ext>
            </c:extLst>
          </c:dPt>
          <c:dLbls>
            <c:dLbl>
              <c:idx val="0"/>
              <c:spPr>
                <a:noFill/>
                <a:ln>
                  <a:noFill/>
                </a:ln>
                <a:effectLst/>
              </c:spPr>
              <c:txPr>
                <a:bodyPr rot="0" spcFirstLastPara="1" vertOverflow="ellipsis" vert="horz" wrap="square" anchor="ctr" anchorCtr="1"/>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F5D8-554E-A45B-1FA49B9B75F1}"/>
                </c:ext>
              </c:extLst>
            </c:dLbl>
            <c:dLbl>
              <c:idx val="1"/>
              <c:spPr>
                <a:noFill/>
                <a:ln>
                  <a:noFill/>
                </a:ln>
                <a:effectLst/>
              </c:spPr>
              <c:txPr>
                <a:bodyPr rot="0" spcFirstLastPara="1" vertOverflow="ellipsis" vert="horz" wrap="square" anchor="ctr" anchorCtr="1"/>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2-F5D8-554E-A45B-1FA49B9B75F1}"/>
                </c:ext>
              </c:extLst>
            </c:dLbl>
            <c:dLbl>
              <c:idx val="2"/>
              <c:delete val="1"/>
              <c:extLst>
                <c:ext xmlns:c15="http://schemas.microsoft.com/office/drawing/2012/chart" uri="{CE6537A1-D6FC-4f65-9D91-7224C49458BB}"/>
                <c:ext xmlns:c16="http://schemas.microsoft.com/office/drawing/2014/chart" uri="{C3380CC4-5D6E-409C-BE32-E72D297353CC}">
                  <c16:uniqueId val="{00000003-F5D8-554E-A45B-1FA49B9B75F1}"/>
                </c:ext>
              </c:extLst>
            </c:dLbl>
            <c:dLbl>
              <c:idx val="3"/>
              <c:delete val="1"/>
              <c:extLst>
                <c:ext xmlns:c15="http://schemas.microsoft.com/office/drawing/2012/chart" uri="{CE6537A1-D6FC-4f65-9D91-7224C49458BB}"/>
                <c:ext xmlns:c16="http://schemas.microsoft.com/office/drawing/2014/chart" uri="{C3380CC4-5D6E-409C-BE32-E72D297353CC}">
                  <c16:uniqueId val="{00000005-F5D8-554E-A45B-1FA49B9B75F1}"/>
                </c:ext>
              </c:extLst>
            </c:dLbl>
            <c:dLbl>
              <c:idx val="4"/>
              <c:delete val="1"/>
              <c:extLst>
                <c:ext xmlns:c15="http://schemas.microsoft.com/office/drawing/2012/chart" uri="{CE6537A1-D6FC-4f65-9D91-7224C49458BB}"/>
                <c:ext xmlns:c16="http://schemas.microsoft.com/office/drawing/2014/chart" uri="{C3380CC4-5D6E-409C-BE32-E72D297353CC}">
                  <c16:uniqueId val="{00000004-F5D8-554E-A45B-1FA49B9B75F1}"/>
                </c:ext>
              </c:extLst>
            </c:dLbl>
            <c:dLbl>
              <c:idx val="5"/>
              <c:delete val="1"/>
              <c:extLst>
                <c:ext xmlns:c15="http://schemas.microsoft.com/office/drawing/2012/chart" uri="{CE6537A1-D6FC-4f65-9D91-7224C49458BB}"/>
                <c:ext xmlns:c16="http://schemas.microsoft.com/office/drawing/2014/chart" uri="{C3380CC4-5D6E-409C-BE32-E72D297353CC}">
                  <c16:uniqueId val="{00000006-F5D8-554E-A45B-1FA49B9B75F1}"/>
                </c:ext>
              </c:extLst>
            </c:dLbl>
            <c:dLbl>
              <c:idx val="6"/>
              <c:delete val="1"/>
              <c:extLst>
                <c:ext xmlns:c15="http://schemas.microsoft.com/office/drawing/2012/chart" uri="{CE6537A1-D6FC-4f65-9D91-7224C49458BB}"/>
                <c:ext xmlns:c16="http://schemas.microsoft.com/office/drawing/2014/chart" uri="{C3380CC4-5D6E-409C-BE32-E72D297353CC}">
                  <c16:uniqueId val="{00000007-F5D8-554E-A45B-1FA49B9B75F1}"/>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Sheet1!$A$2:$A$8</c:f>
              <c:numCache>
                <c:formatCode>General</c:formatCode>
                <c:ptCount val="7"/>
              </c:numCache>
            </c:numRef>
          </c:cat>
          <c:val>
            <c:numRef>
              <c:f>Sheet1!$B$2:$B$8</c:f>
              <c:numCache>
                <c:formatCode>General</c:formatCode>
                <c:ptCount val="7"/>
                <c:pt idx="0">
                  <c:v>61.8</c:v>
                </c:pt>
                <c:pt idx="1">
                  <c:v>20.8</c:v>
                </c:pt>
                <c:pt idx="2">
                  <c:v>9.4</c:v>
                </c:pt>
                <c:pt idx="3">
                  <c:v>1</c:v>
                </c:pt>
                <c:pt idx="4">
                  <c:v>2.5</c:v>
                </c:pt>
                <c:pt idx="5">
                  <c:v>2.9</c:v>
                </c:pt>
                <c:pt idx="6">
                  <c:v>1.6</c:v>
                </c:pt>
              </c:numCache>
            </c:numRef>
          </c:val>
          <c:extLst>
            <c:ext xmlns:c16="http://schemas.microsoft.com/office/drawing/2014/chart" uri="{C3380CC4-5D6E-409C-BE32-E72D297353CC}">
              <c16:uniqueId val="{00000000-F5D8-554E-A45B-1FA49B9B75F1}"/>
            </c:ext>
          </c:extLst>
        </c:ser>
        <c:dLbls>
          <c:dLblPos val="outEnd"/>
          <c:showLegendKey val="0"/>
          <c:showVal val="0"/>
          <c:showCatName val="0"/>
          <c:showSerName val="0"/>
          <c:showPercent val="1"/>
          <c:showBubbleSize val="0"/>
          <c:showLeaderLines val="1"/>
        </c:dLbls>
        <c:firstSliceAng val="0"/>
      </c:pieChart>
      <c:spPr>
        <a:noFill/>
        <a:ln w="25400">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43361105715788"/>
          <c:y val="0.13839865684838229"/>
          <c:w val="0.47118578681197099"/>
          <c:h val="0.78396606765486132"/>
        </c:manualLayout>
      </c:layout>
      <c:pieChart>
        <c:varyColors val="1"/>
        <c:ser>
          <c:idx val="0"/>
          <c:order val="0"/>
          <c:tx>
            <c:strRef>
              <c:f>Sheet1!$B$1</c:f>
              <c:strCache>
                <c:ptCount val="1"/>
                <c:pt idx="0">
                  <c:v>Column1</c:v>
                </c:pt>
              </c:strCache>
            </c:strRef>
          </c:tx>
          <c:explosion val="1"/>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0B28-FE43-BB08-09FA2B8906A5}"/>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0B28-FE43-BB08-09FA2B8906A5}"/>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0B28-FE43-BB08-09FA2B8906A5}"/>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0B28-FE43-BB08-09FA2B8906A5}"/>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4-0B28-FE43-BB08-09FA2B8906A5}"/>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6-0B28-FE43-BB08-09FA2B8906A5}"/>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0B28-FE43-BB08-09FA2B8906A5}"/>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2-0B28-FE43-BB08-09FA2B8906A5}"/>
                </c:ext>
              </c:extLst>
            </c:dLbl>
            <c:dLbl>
              <c:idx val="2"/>
              <c:delete val="1"/>
              <c:extLst>
                <c:ext xmlns:c15="http://schemas.microsoft.com/office/drawing/2012/chart" uri="{CE6537A1-D6FC-4f65-9D91-7224C49458BB}"/>
                <c:ext xmlns:c16="http://schemas.microsoft.com/office/drawing/2014/chart" uri="{C3380CC4-5D6E-409C-BE32-E72D297353CC}">
                  <c16:uniqueId val="{00000005-0B28-FE43-BB08-09FA2B8906A5}"/>
                </c:ext>
              </c:extLst>
            </c:dLbl>
            <c:dLbl>
              <c:idx val="3"/>
              <c:delete val="1"/>
              <c:extLst>
                <c:ext xmlns:c15="http://schemas.microsoft.com/office/drawing/2012/chart" uri="{CE6537A1-D6FC-4f65-9D91-7224C49458BB}"/>
                <c:ext xmlns:c16="http://schemas.microsoft.com/office/drawing/2014/chart" uri="{C3380CC4-5D6E-409C-BE32-E72D297353CC}">
                  <c16:uniqueId val="{00000003-0B28-FE43-BB08-09FA2B8906A5}"/>
                </c:ext>
              </c:extLst>
            </c:dLbl>
            <c:dLbl>
              <c:idx val="4"/>
              <c:delete val="1"/>
              <c:extLst>
                <c:ext xmlns:c15="http://schemas.microsoft.com/office/drawing/2012/chart" uri="{CE6537A1-D6FC-4f65-9D91-7224C49458BB}"/>
                <c:ext xmlns:c16="http://schemas.microsoft.com/office/drawing/2014/chart" uri="{C3380CC4-5D6E-409C-BE32-E72D297353CC}">
                  <c16:uniqueId val="{00000004-0B28-FE43-BB08-09FA2B8906A5}"/>
                </c:ext>
              </c:extLst>
            </c:dLbl>
            <c:dLbl>
              <c:idx val="5"/>
              <c:delete val="1"/>
              <c:extLst>
                <c:ext xmlns:c15="http://schemas.microsoft.com/office/drawing/2012/chart" uri="{CE6537A1-D6FC-4f65-9D91-7224C49458BB}"/>
                <c:ext xmlns:c16="http://schemas.microsoft.com/office/drawing/2014/chart" uri="{C3380CC4-5D6E-409C-BE32-E72D297353CC}">
                  <c16:uniqueId val="{00000006-0B28-FE43-BB08-09FA2B8906A5}"/>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Sheet1!$A$2:$A$7</c:f>
              <c:numCache>
                <c:formatCode>General</c:formatCode>
                <c:ptCount val="6"/>
              </c:numCache>
            </c:numRef>
          </c:cat>
          <c:val>
            <c:numRef>
              <c:f>Sheet1!$B$2:$B$7</c:f>
              <c:numCache>
                <c:formatCode>General</c:formatCode>
                <c:ptCount val="6"/>
                <c:pt idx="0">
                  <c:v>54.9</c:v>
                </c:pt>
                <c:pt idx="1">
                  <c:v>36.1</c:v>
                </c:pt>
                <c:pt idx="2">
                  <c:v>0.4</c:v>
                </c:pt>
                <c:pt idx="3">
                  <c:v>0.5</c:v>
                </c:pt>
                <c:pt idx="4">
                  <c:v>4.5999999999999996</c:v>
                </c:pt>
                <c:pt idx="5">
                  <c:v>3.1</c:v>
                </c:pt>
              </c:numCache>
            </c:numRef>
          </c:val>
          <c:extLst>
            <c:ext xmlns:c16="http://schemas.microsoft.com/office/drawing/2014/chart" uri="{C3380CC4-5D6E-409C-BE32-E72D297353CC}">
              <c16:uniqueId val="{00000000-0B28-FE43-BB08-09FA2B8906A5}"/>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Transactions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89415725208262"/>
          <c:y val="0.17851384861497821"/>
          <c:w val="0.8644883791699951"/>
          <c:h val="0.61759420889215888"/>
        </c:manualLayout>
      </c:layout>
      <c:barChart>
        <c:barDir val="col"/>
        <c:grouping val="clustered"/>
        <c:varyColors val="0"/>
        <c:ser>
          <c:idx val="0"/>
          <c:order val="0"/>
          <c:tx>
            <c:strRef>
              <c:f>Sheet1!$B$1</c:f>
              <c:strCache>
                <c:ptCount val="1"/>
                <c:pt idx="0">
                  <c:v>2021</c:v>
                </c:pt>
              </c:strCache>
            </c:strRef>
          </c:tx>
          <c:spPr>
            <a:solidFill>
              <a:schemeClr val="accent1"/>
            </a:solidFill>
            <a:ln>
              <a:noFill/>
            </a:ln>
            <a:effectLst/>
          </c:spPr>
          <c:invertIfNegative val="0"/>
          <c:dPt>
            <c:idx val="0"/>
            <c:invertIfNegative val="0"/>
            <c:bubble3D val="0"/>
            <c:spPr>
              <a:solidFill>
                <a:schemeClr val="tx2">
                  <a:lumMod val="50000"/>
                </a:schemeClr>
              </a:solidFill>
              <a:ln>
                <a:noFill/>
              </a:ln>
              <a:effectLst/>
            </c:spPr>
            <c:extLst>
              <c:ext xmlns:c16="http://schemas.microsoft.com/office/drawing/2014/chart" uri="{C3380CC4-5D6E-409C-BE32-E72D297353CC}">
                <c16:uniqueId val="{00000003-39A4-E34C-89C7-ED14947D62E9}"/>
              </c:ext>
            </c:extLst>
          </c:dPt>
          <c:dLbls>
            <c:dLbl>
              <c:idx val="0"/>
              <c:layout>
                <c:manualLayout>
                  <c:x val="-4.8309178743961793E-3"/>
                  <c:y val="-1.8305372332733844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9A4-E34C-89C7-ED14947D62E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Transactions</c:v>
                </c:pt>
              </c:strCache>
            </c:strRef>
          </c:cat>
          <c:val>
            <c:numRef>
              <c:f>Sheet1!$B$2</c:f>
              <c:numCache>
                <c:formatCode>General</c:formatCode>
                <c:ptCount val="1"/>
                <c:pt idx="0">
                  <c:v>2349</c:v>
                </c:pt>
              </c:numCache>
            </c:numRef>
          </c:val>
          <c:extLst>
            <c:ext xmlns:c16="http://schemas.microsoft.com/office/drawing/2014/chart" uri="{C3380CC4-5D6E-409C-BE32-E72D297353CC}">
              <c16:uniqueId val="{00000000-39A4-E34C-89C7-ED14947D62E9}"/>
            </c:ext>
          </c:extLst>
        </c:ser>
        <c:ser>
          <c:idx val="1"/>
          <c:order val="1"/>
          <c:tx>
            <c:strRef>
              <c:f>Sheet1!$C$1</c:f>
              <c:strCache>
                <c:ptCount val="1"/>
                <c:pt idx="0">
                  <c:v>2022</c:v>
                </c:pt>
              </c:strCache>
            </c:strRef>
          </c:tx>
          <c:spPr>
            <a:solidFill>
              <a:schemeClr val="accent2">
                <a:lumMod val="60000"/>
                <a:lumOff val="40000"/>
              </a:schemeClr>
            </a:solidFill>
            <a:ln>
              <a:noFill/>
            </a:ln>
            <a:effectLst/>
          </c:spPr>
          <c:invertIfNegative val="0"/>
          <c:dPt>
            <c:idx val="0"/>
            <c:invertIfNegative val="0"/>
            <c:bubble3D val="0"/>
            <c:spPr>
              <a:solidFill>
                <a:schemeClr val="accent1">
                  <a:lumMod val="40000"/>
                  <a:lumOff val="60000"/>
                </a:schemeClr>
              </a:solidFill>
              <a:ln>
                <a:noFill/>
              </a:ln>
              <a:effectLst/>
            </c:spPr>
            <c:extLst>
              <c:ext xmlns:c16="http://schemas.microsoft.com/office/drawing/2014/chart" uri="{C3380CC4-5D6E-409C-BE32-E72D297353CC}">
                <c16:uniqueId val="{00000004-39A4-E34C-89C7-ED14947D62E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Transactions</c:v>
                </c:pt>
              </c:strCache>
            </c:strRef>
          </c:cat>
          <c:val>
            <c:numRef>
              <c:f>Sheet1!$C$2</c:f>
              <c:numCache>
                <c:formatCode>General</c:formatCode>
                <c:ptCount val="1"/>
                <c:pt idx="0">
                  <c:v>1673</c:v>
                </c:pt>
              </c:numCache>
            </c:numRef>
          </c:val>
          <c:extLst>
            <c:ext xmlns:c16="http://schemas.microsoft.com/office/drawing/2014/chart" uri="{C3380CC4-5D6E-409C-BE32-E72D297353CC}">
              <c16:uniqueId val="{00000001-39A4-E34C-89C7-ED14947D62E9}"/>
            </c:ext>
          </c:extLst>
        </c:ser>
        <c:dLbls>
          <c:dLblPos val="outEnd"/>
          <c:showLegendKey val="0"/>
          <c:showVal val="1"/>
          <c:showCatName val="0"/>
          <c:showSerName val="0"/>
          <c:showPercent val="0"/>
          <c:showBubbleSize val="0"/>
        </c:dLbls>
        <c:gapWidth val="136"/>
        <c:overlap val="-77"/>
        <c:axId val="1299009647"/>
        <c:axId val="1299104111"/>
      </c:barChart>
      <c:catAx>
        <c:axId val="1299009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9104111"/>
        <c:crosses val="autoZero"/>
        <c:auto val="1"/>
        <c:lblAlgn val="ctr"/>
        <c:lblOffset val="100"/>
        <c:noMultiLvlLbl val="0"/>
      </c:catAx>
      <c:valAx>
        <c:axId val="12991041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990096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Revenue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Revenue</c:v>
                </c:pt>
              </c:strCache>
            </c:strRef>
          </c:cat>
          <c:val>
            <c:numRef>
              <c:f>Sheet1!$B$2</c:f>
              <c:numCache>
                <c:formatCode>General</c:formatCode>
                <c:ptCount val="1"/>
                <c:pt idx="0">
                  <c:v>221776</c:v>
                </c:pt>
              </c:numCache>
            </c:numRef>
          </c:val>
          <c:extLst>
            <c:ext xmlns:c16="http://schemas.microsoft.com/office/drawing/2014/chart" uri="{C3380CC4-5D6E-409C-BE32-E72D297353CC}">
              <c16:uniqueId val="{00000000-5EA8-4647-8E2A-DC2F291A7DC1}"/>
            </c:ext>
          </c:extLst>
        </c:ser>
        <c:ser>
          <c:idx val="1"/>
          <c:order val="1"/>
          <c:tx>
            <c:strRef>
              <c:f>Sheet1!$C$1</c:f>
              <c:strCache>
                <c:ptCount val="1"/>
                <c:pt idx="0">
                  <c:v>2022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Revenue</c:v>
                </c:pt>
              </c:strCache>
            </c:strRef>
          </c:cat>
          <c:val>
            <c:numRef>
              <c:f>Sheet1!$C$2</c:f>
              <c:numCache>
                <c:formatCode>General</c:formatCode>
                <c:ptCount val="1"/>
                <c:pt idx="0">
                  <c:v>199434</c:v>
                </c:pt>
              </c:numCache>
            </c:numRef>
          </c:val>
          <c:extLst>
            <c:ext xmlns:c16="http://schemas.microsoft.com/office/drawing/2014/chart" uri="{C3380CC4-5D6E-409C-BE32-E72D297353CC}">
              <c16:uniqueId val="{00000001-5EA8-4647-8E2A-DC2F291A7DC1}"/>
            </c:ext>
          </c:extLst>
        </c:ser>
        <c:dLbls>
          <c:dLblPos val="outEnd"/>
          <c:showLegendKey val="0"/>
          <c:showVal val="1"/>
          <c:showCatName val="0"/>
          <c:showSerName val="0"/>
          <c:showPercent val="0"/>
          <c:showBubbleSize val="0"/>
        </c:dLbls>
        <c:gapWidth val="219"/>
        <c:overlap val="-27"/>
        <c:axId val="706081871"/>
        <c:axId val="706187663"/>
      </c:barChart>
      <c:catAx>
        <c:axId val="706081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6187663"/>
        <c:crosses val="autoZero"/>
        <c:auto val="1"/>
        <c:lblAlgn val="ctr"/>
        <c:lblOffset val="100"/>
        <c:noMultiLvlLbl val="0"/>
      </c:catAx>
      <c:valAx>
        <c:axId val="706187663"/>
        <c:scaling>
          <c:orientation val="minMax"/>
          <c:min val="150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60818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251DD9-CB05-4F5F-82D1-3ED9F2AEC85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C00F1FD-BB80-4E96-8C68-4F2AEAC0744B}">
      <dgm:prSet/>
      <dgm:spPr/>
      <dgm:t>
        <a:bodyPr/>
        <a:lstStyle/>
        <a:p>
          <a:r>
            <a:rPr lang="en-US"/>
            <a:t>Leverage Remarketing Campaigns: Given the increase in returning visitors, set up remarketing campaigns targeting users who have visited specific pages but did not convert, with personalized messaging and offers.</a:t>
          </a:r>
        </a:p>
      </dgm:t>
    </dgm:pt>
    <dgm:pt modelId="{EFFCA4A5-5AD3-4C0C-B925-AAB6A6C6E0CD}" type="parTrans" cxnId="{7B671BAE-2B0F-4F66-9976-06C7324FF8B1}">
      <dgm:prSet/>
      <dgm:spPr/>
      <dgm:t>
        <a:bodyPr/>
        <a:lstStyle/>
        <a:p>
          <a:endParaRPr lang="en-US"/>
        </a:p>
      </dgm:t>
    </dgm:pt>
    <dgm:pt modelId="{3301BE40-9255-4DE1-A7FA-2C75A7CEDCEF}" type="sibTrans" cxnId="{7B671BAE-2B0F-4F66-9976-06C7324FF8B1}">
      <dgm:prSet/>
      <dgm:spPr/>
      <dgm:t>
        <a:bodyPr/>
        <a:lstStyle/>
        <a:p>
          <a:endParaRPr lang="en-US"/>
        </a:p>
      </dgm:t>
    </dgm:pt>
    <dgm:pt modelId="{07868C50-105B-4DEA-BC06-D1C43CB38696}">
      <dgm:prSet/>
      <dgm:spPr/>
      <dgm:t>
        <a:bodyPr/>
        <a:lstStyle/>
        <a:p>
          <a:r>
            <a:rPr lang="en-US"/>
            <a:t>Streamline Mobile Checkout: Implement a simplified, secure mobile payment process with fewer steps and autofill options to reduce friction, which can improve conversion rates and enhance the overall mobile shopping experience</a:t>
          </a:r>
        </a:p>
      </dgm:t>
    </dgm:pt>
    <dgm:pt modelId="{D29C6B28-E078-4179-8C90-4462D30BEB19}" type="parTrans" cxnId="{AAE29369-9183-40BA-BE1F-2BF5F71E3B0B}">
      <dgm:prSet/>
      <dgm:spPr/>
      <dgm:t>
        <a:bodyPr/>
        <a:lstStyle/>
        <a:p>
          <a:endParaRPr lang="en-US"/>
        </a:p>
      </dgm:t>
    </dgm:pt>
    <dgm:pt modelId="{B0B91219-6A6B-492C-831C-B58B474923CC}" type="sibTrans" cxnId="{AAE29369-9183-40BA-BE1F-2BF5F71E3B0B}">
      <dgm:prSet/>
      <dgm:spPr/>
      <dgm:t>
        <a:bodyPr/>
        <a:lstStyle/>
        <a:p>
          <a:endParaRPr lang="en-US"/>
        </a:p>
      </dgm:t>
    </dgm:pt>
    <dgm:pt modelId="{46772CED-E871-4365-9A08-9C63252BC13E}">
      <dgm:prSet/>
      <dgm:spPr/>
      <dgm:t>
        <a:bodyPr/>
        <a:lstStyle/>
        <a:p>
          <a:r>
            <a:rPr lang="en-US"/>
            <a:t>Social Media and Community Engagement: Increase efforts on social media to build community and drive both new and returning visitors. Engaging content and community discussions can enhance brand loyalty and encourage repeat visits.</a:t>
          </a:r>
        </a:p>
      </dgm:t>
    </dgm:pt>
    <dgm:pt modelId="{1EA3DBE5-C7E2-4DE2-AAD1-C49E0729FA0F}" type="parTrans" cxnId="{32BEDE61-6E30-40E4-BAD3-E2E83A585ECB}">
      <dgm:prSet/>
      <dgm:spPr/>
      <dgm:t>
        <a:bodyPr/>
        <a:lstStyle/>
        <a:p>
          <a:endParaRPr lang="en-US"/>
        </a:p>
      </dgm:t>
    </dgm:pt>
    <dgm:pt modelId="{3310D607-8AD5-4659-AAAC-555E54A20F6C}" type="sibTrans" cxnId="{32BEDE61-6E30-40E4-BAD3-E2E83A585ECB}">
      <dgm:prSet/>
      <dgm:spPr/>
      <dgm:t>
        <a:bodyPr/>
        <a:lstStyle/>
        <a:p>
          <a:endParaRPr lang="en-US"/>
        </a:p>
      </dgm:t>
    </dgm:pt>
    <dgm:pt modelId="{B6560E59-2932-49A7-808C-77EF92EF0C91}">
      <dgm:prSet/>
      <dgm:spPr/>
      <dgm:t>
        <a:bodyPr/>
        <a:lstStyle/>
        <a:p>
          <a:r>
            <a:rPr lang="en-US"/>
            <a:t>Partnerships and Collaborations: Collaborate with influencers or brands that share a similar audience to tap into their followers and drive traffic to the site. Ensure the collaborations are authentic and offer value to both user bases.</a:t>
          </a:r>
        </a:p>
      </dgm:t>
    </dgm:pt>
    <dgm:pt modelId="{5D996B69-E249-4EE7-8CD5-F58335E2C547}" type="parTrans" cxnId="{B774B6D0-A8FE-483B-BBCD-9A0414146219}">
      <dgm:prSet/>
      <dgm:spPr/>
      <dgm:t>
        <a:bodyPr/>
        <a:lstStyle/>
        <a:p>
          <a:endParaRPr lang="en-US"/>
        </a:p>
      </dgm:t>
    </dgm:pt>
    <dgm:pt modelId="{25D23DFB-4A39-4902-8E9B-1497FA984C6D}" type="sibTrans" cxnId="{B774B6D0-A8FE-483B-BBCD-9A0414146219}">
      <dgm:prSet/>
      <dgm:spPr/>
      <dgm:t>
        <a:bodyPr/>
        <a:lstStyle/>
        <a:p>
          <a:endParaRPr lang="en-US"/>
        </a:p>
      </dgm:t>
    </dgm:pt>
    <dgm:pt modelId="{33BF0E47-FB8E-4DCF-9860-8DD10F175D23}" type="pres">
      <dgm:prSet presAssocID="{71251DD9-CB05-4F5F-82D1-3ED9F2AEC853}" presName="root" presStyleCnt="0">
        <dgm:presLayoutVars>
          <dgm:dir/>
          <dgm:resizeHandles val="exact"/>
        </dgm:presLayoutVars>
      </dgm:prSet>
      <dgm:spPr/>
    </dgm:pt>
    <dgm:pt modelId="{899691D5-DAF4-4E1D-936D-90F61998841A}" type="pres">
      <dgm:prSet presAssocID="{71251DD9-CB05-4F5F-82D1-3ED9F2AEC853}" presName="container" presStyleCnt="0">
        <dgm:presLayoutVars>
          <dgm:dir/>
          <dgm:resizeHandles val="exact"/>
        </dgm:presLayoutVars>
      </dgm:prSet>
      <dgm:spPr/>
    </dgm:pt>
    <dgm:pt modelId="{B79C30E4-F71A-4230-86E8-BC6F5C6FA5F9}" type="pres">
      <dgm:prSet presAssocID="{DC00F1FD-BB80-4E96-8C68-4F2AEAC0744B}" presName="compNode" presStyleCnt="0"/>
      <dgm:spPr/>
    </dgm:pt>
    <dgm:pt modelId="{59A50634-8E11-4A41-BA63-A956D1A201D2}" type="pres">
      <dgm:prSet presAssocID="{DC00F1FD-BB80-4E96-8C68-4F2AEAC0744B}" presName="iconBgRect" presStyleLbl="bgShp" presStyleIdx="0" presStyleCnt="4"/>
      <dgm:spPr/>
    </dgm:pt>
    <dgm:pt modelId="{42461A71-46AF-4199-88B4-D38E6FDBDEF0}" type="pres">
      <dgm:prSet presAssocID="{DC00F1FD-BB80-4E96-8C68-4F2AEAC0744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369F9C78-B4F9-4C03-B2D6-835014C0DC0B}" type="pres">
      <dgm:prSet presAssocID="{DC00F1FD-BB80-4E96-8C68-4F2AEAC0744B}" presName="spaceRect" presStyleCnt="0"/>
      <dgm:spPr/>
    </dgm:pt>
    <dgm:pt modelId="{4462B70B-1864-42CD-B299-763D5BCA8D6D}" type="pres">
      <dgm:prSet presAssocID="{DC00F1FD-BB80-4E96-8C68-4F2AEAC0744B}" presName="textRect" presStyleLbl="revTx" presStyleIdx="0" presStyleCnt="4">
        <dgm:presLayoutVars>
          <dgm:chMax val="1"/>
          <dgm:chPref val="1"/>
        </dgm:presLayoutVars>
      </dgm:prSet>
      <dgm:spPr/>
    </dgm:pt>
    <dgm:pt modelId="{67197ECA-BAD6-45B1-A80D-CBDD10C0DD3C}" type="pres">
      <dgm:prSet presAssocID="{3301BE40-9255-4DE1-A7FA-2C75A7CEDCEF}" presName="sibTrans" presStyleLbl="sibTrans2D1" presStyleIdx="0" presStyleCnt="0"/>
      <dgm:spPr/>
    </dgm:pt>
    <dgm:pt modelId="{3FDF70E0-6633-4AF4-A28D-71C6780EB3D0}" type="pres">
      <dgm:prSet presAssocID="{07868C50-105B-4DEA-BC06-D1C43CB38696}" presName="compNode" presStyleCnt="0"/>
      <dgm:spPr/>
    </dgm:pt>
    <dgm:pt modelId="{EE7CAE00-6536-4C63-BA67-3D18EEE53142}" type="pres">
      <dgm:prSet presAssocID="{07868C50-105B-4DEA-BC06-D1C43CB38696}" presName="iconBgRect" presStyleLbl="bgShp" presStyleIdx="1" presStyleCnt="4"/>
      <dgm:spPr/>
    </dgm:pt>
    <dgm:pt modelId="{84CF3CBE-A275-4ED3-9AE6-D69BAC4F110B}" type="pres">
      <dgm:prSet presAssocID="{07868C50-105B-4DEA-BC06-D1C43CB3869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gister"/>
        </a:ext>
      </dgm:extLst>
    </dgm:pt>
    <dgm:pt modelId="{8909BF14-D9FE-4EE2-9B3F-A69D3CBB1368}" type="pres">
      <dgm:prSet presAssocID="{07868C50-105B-4DEA-BC06-D1C43CB38696}" presName="spaceRect" presStyleCnt="0"/>
      <dgm:spPr/>
    </dgm:pt>
    <dgm:pt modelId="{1F7689F3-9462-4DAA-B1D3-C5D69BECBE34}" type="pres">
      <dgm:prSet presAssocID="{07868C50-105B-4DEA-BC06-D1C43CB38696}" presName="textRect" presStyleLbl="revTx" presStyleIdx="1" presStyleCnt="4">
        <dgm:presLayoutVars>
          <dgm:chMax val="1"/>
          <dgm:chPref val="1"/>
        </dgm:presLayoutVars>
      </dgm:prSet>
      <dgm:spPr/>
    </dgm:pt>
    <dgm:pt modelId="{921B7C60-7E5B-4490-9CCB-28B24BFF2CF3}" type="pres">
      <dgm:prSet presAssocID="{B0B91219-6A6B-492C-831C-B58B474923CC}" presName="sibTrans" presStyleLbl="sibTrans2D1" presStyleIdx="0" presStyleCnt="0"/>
      <dgm:spPr/>
    </dgm:pt>
    <dgm:pt modelId="{20FFBAC0-7DDE-4845-90E1-5AE3A23F450C}" type="pres">
      <dgm:prSet presAssocID="{46772CED-E871-4365-9A08-9C63252BC13E}" presName="compNode" presStyleCnt="0"/>
      <dgm:spPr/>
    </dgm:pt>
    <dgm:pt modelId="{66B4DA9C-E711-48CE-89A4-68E60C75224A}" type="pres">
      <dgm:prSet presAssocID="{46772CED-E871-4365-9A08-9C63252BC13E}" presName="iconBgRect" presStyleLbl="bgShp" presStyleIdx="2" presStyleCnt="4"/>
      <dgm:spPr/>
    </dgm:pt>
    <dgm:pt modelId="{E9A2DA58-7481-43D9-8E1B-4988BE5C319D}" type="pres">
      <dgm:prSet presAssocID="{46772CED-E871-4365-9A08-9C63252BC13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wspaper"/>
        </a:ext>
      </dgm:extLst>
    </dgm:pt>
    <dgm:pt modelId="{7A0557BE-5B98-4C70-98EF-B3FD9D013D90}" type="pres">
      <dgm:prSet presAssocID="{46772CED-E871-4365-9A08-9C63252BC13E}" presName="spaceRect" presStyleCnt="0"/>
      <dgm:spPr/>
    </dgm:pt>
    <dgm:pt modelId="{13B2E2A7-0C1C-452D-857C-2D272A87CA04}" type="pres">
      <dgm:prSet presAssocID="{46772CED-E871-4365-9A08-9C63252BC13E}" presName="textRect" presStyleLbl="revTx" presStyleIdx="2" presStyleCnt="4">
        <dgm:presLayoutVars>
          <dgm:chMax val="1"/>
          <dgm:chPref val="1"/>
        </dgm:presLayoutVars>
      </dgm:prSet>
      <dgm:spPr/>
    </dgm:pt>
    <dgm:pt modelId="{0E06E663-4C6E-4F44-A774-884B1525F87B}" type="pres">
      <dgm:prSet presAssocID="{3310D607-8AD5-4659-AAAC-555E54A20F6C}" presName="sibTrans" presStyleLbl="sibTrans2D1" presStyleIdx="0" presStyleCnt="0"/>
      <dgm:spPr/>
    </dgm:pt>
    <dgm:pt modelId="{30B96CA2-12AC-4377-A1C0-C79CAE6F8C02}" type="pres">
      <dgm:prSet presAssocID="{B6560E59-2932-49A7-808C-77EF92EF0C91}" presName="compNode" presStyleCnt="0"/>
      <dgm:spPr/>
    </dgm:pt>
    <dgm:pt modelId="{E8B8FECF-234D-4A83-A23F-9B59674A4D07}" type="pres">
      <dgm:prSet presAssocID="{B6560E59-2932-49A7-808C-77EF92EF0C91}" presName="iconBgRect" presStyleLbl="bgShp" presStyleIdx="3" presStyleCnt="4"/>
      <dgm:spPr/>
    </dgm:pt>
    <dgm:pt modelId="{49FB31A8-644C-4FBB-B936-EB9F509106C2}" type="pres">
      <dgm:prSet presAssocID="{B6560E59-2932-49A7-808C-77EF92EF0C9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nnections"/>
        </a:ext>
      </dgm:extLst>
    </dgm:pt>
    <dgm:pt modelId="{FD86720B-58AF-4844-9F5F-3773E03D23C0}" type="pres">
      <dgm:prSet presAssocID="{B6560E59-2932-49A7-808C-77EF92EF0C91}" presName="spaceRect" presStyleCnt="0"/>
      <dgm:spPr/>
    </dgm:pt>
    <dgm:pt modelId="{261D89FA-E203-426E-AC2F-0D6A4142CDCA}" type="pres">
      <dgm:prSet presAssocID="{B6560E59-2932-49A7-808C-77EF92EF0C91}" presName="textRect" presStyleLbl="revTx" presStyleIdx="3" presStyleCnt="4">
        <dgm:presLayoutVars>
          <dgm:chMax val="1"/>
          <dgm:chPref val="1"/>
        </dgm:presLayoutVars>
      </dgm:prSet>
      <dgm:spPr/>
    </dgm:pt>
  </dgm:ptLst>
  <dgm:cxnLst>
    <dgm:cxn modelId="{CB713A01-CF0B-4696-8033-AF3989304706}" type="presOf" srcId="{07868C50-105B-4DEA-BC06-D1C43CB38696}" destId="{1F7689F3-9462-4DAA-B1D3-C5D69BECBE34}" srcOrd="0" destOrd="0" presId="urn:microsoft.com/office/officeart/2018/2/layout/IconCircleList"/>
    <dgm:cxn modelId="{56D63351-3A9A-42F0-91B5-23DCCFE35537}" type="presOf" srcId="{3310D607-8AD5-4659-AAAC-555E54A20F6C}" destId="{0E06E663-4C6E-4F44-A774-884B1525F87B}" srcOrd="0" destOrd="0" presId="urn:microsoft.com/office/officeart/2018/2/layout/IconCircleList"/>
    <dgm:cxn modelId="{51082C58-938B-470E-B7E8-68F6BFFB4ABC}" type="presOf" srcId="{3301BE40-9255-4DE1-A7FA-2C75A7CEDCEF}" destId="{67197ECA-BAD6-45B1-A80D-CBDD10C0DD3C}" srcOrd="0" destOrd="0" presId="urn:microsoft.com/office/officeart/2018/2/layout/IconCircleList"/>
    <dgm:cxn modelId="{32BEDE61-6E30-40E4-BAD3-E2E83A585ECB}" srcId="{71251DD9-CB05-4F5F-82D1-3ED9F2AEC853}" destId="{46772CED-E871-4365-9A08-9C63252BC13E}" srcOrd="2" destOrd="0" parTransId="{1EA3DBE5-C7E2-4DE2-AAD1-C49E0729FA0F}" sibTransId="{3310D607-8AD5-4659-AAAC-555E54A20F6C}"/>
    <dgm:cxn modelId="{AAE29369-9183-40BA-BE1F-2BF5F71E3B0B}" srcId="{71251DD9-CB05-4F5F-82D1-3ED9F2AEC853}" destId="{07868C50-105B-4DEA-BC06-D1C43CB38696}" srcOrd="1" destOrd="0" parTransId="{D29C6B28-E078-4179-8C90-4462D30BEB19}" sibTransId="{B0B91219-6A6B-492C-831C-B58B474923CC}"/>
    <dgm:cxn modelId="{1B103785-3E88-4FDF-9A82-3D815F4EE9B7}" type="presOf" srcId="{71251DD9-CB05-4F5F-82D1-3ED9F2AEC853}" destId="{33BF0E47-FB8E-4DCF-9860-8DD10F175D23}" srcOrd="0" destOrd="0" presId="urn:microsoft.com/office/officeart/2018/2/layout/IconCircleList"/>
    <dgm:cxn modelId="{78A46890-9F97-4D38-9F3A-005853B7856A}" type="presOf" srcId="{DC00F1FD-BB80-4E96-8C68-4F2AEAC0744B}" destId="{4462B70B-1864-42CD-B299-763D5BCA8D6D}" srcOrd="0" destOrd="0" presId="urn:microsoft.com/office/officeart/2018/2/layout/IconCircleList"/>
    <dgm:cxn modelId="{2C11DDA2-0D64-4FB6-B6A8-1DD93A995BB0}" type="presOf" srcId="{46772CED-E871-4365-9A08-9C63252BC13E}" destId="{13B2E2A7-0C1C-452D-857C-2D272A87CA04}" srcOrd="0" destOrd="0" presId="urn:microsoft.com/office/officeart/2018/2/layout/IconCircleList"/>
    <dgm:cxn modelId="{7B671BAE-2B0F-4F66-9976-06C7324FF8B1}" srcId="{71251DD9-CB05-4F5F-82D1-3ED9F2AEC853}" destId="{DC00F1FD-BB80-4E96-8C68-4F2AEAC0744B}" srcOrd="0" destOrd="0" parTransId="{EFFCA4A5-5AD3-4C0C-B925-AAB6A6C6E0CD}" sibTransId="{3301BE40-9255-4DE1-A7FA-2C75A7CEDCEF}"/>
    <dgm:cxn modelId="{B774B6D0-A8FE-483B-BBCD-9A0414146219}" srcId="{71251DD9-CB05-4F5F-82D1-3ED9F2AEC853}" destId="{B6560E59-2932-49A7-808C-77EF92EF0C91}" srcOrd="3" destOrd="0" parTransId="{5D996B69-E249-4EE7-8CD5-F58335E2C547}" sibTransId="{25D23DFB-4A39-4902-8E9B-1497FA984C6D}"/>
    <dgm:cxn modelId="{78C16CEA-4A87-41CA-8B07-8CB262D41CF2}" type="presOf" srcId="{B6560E59-2932-49A7-808C-77EF92EF0C91}" destId="{261D89FA-E203-426E-AC2F-0D6A4142CDCA}" srcOrd="0" destOrd="0" presId="urn:microsoft.com/office/officeart/2018/2/layout/IconCircleList"/>
    <dgm:cxn modelId="{2C559FFB-64D2-482A-BE9E-0AFFF89F0A5C}" type="presOf" srcId="{B0B91219-6A6B-492C-831C-B58B474923CC}" destId="{921B7C60-7E5B-4490-9CCB-28B24BFF2CF3}" srcOrd="0" destOrd="0" presId="urn:microsoft.com/office/officeart/2018/2/layout/IconCircleList"/>
    <dgm:cxn modelId="{8A1DC8F2-93E7-44CB-8706-7A970AF2FE67}" type="presParOf" srcId="{33BF0E47-FB8E-4DCF-9860-8DD10F175D23}" destId="{899691D5-DAF4-4E1D-936D-90F61998841A}" srcOrd="0" destOrd="0" presId="urn:microsoft.com/office/officeart/2018/2/layout/IconCircleList"/>
    <dgm:cxn modelId="{92520FF5-1233-410B-9D99-343A4AB9010C}" type="presParOf" srcId="{899691D5-DAF4-4E1D-936D-90F61998841A}" destId="{B79C30E4-F71A-4230-86E8-BC6F5C6FA5F9}" srcOrd="0" destOrd="0" presId="urn:microsoft.com/office/officeart/2018/2/layout/IconCircleList"/>
    <dgm:cxn modelId="{88EEA092-1344-4B9C-86D3-265DBAD1F2A2}" type="presParOf" srcId="{B79C30E4-F71A-4230-86E8-BC6F5C6FA5F9}" destId="{59A50634-8E11-4A41-BA63-A956D1A201D2}" srcOrd="0" destOrd="0" presId="urn:microsoft.com/office/officeart/2018/2/layout/IconCircleList"/>
    <dgm:cxn modelId="{4920DCD2-9D9F-4DD9-A443-A23276CB3961}" type="presParOf" srcId="{B79C30E4-F71A-4230-86E8-BC6F5C6FA5F9}" destId="{42461A71-46AF-4199-88B4-D38E6FDBDEF0}" srcOrd="1" destOrd="0" presId="urn:microsoft.com/office/officeart/2018/2/layout/IconCircleList"/>
    <dgm:cxn modelId="{C2809D30-E681-4D3C-9ACC-C2E5235A14E0}" type="presParOf" srcId="{B79C30E4-F71A-4230-86E8-BC6F5C6FA5F9}" destId="{369F9C78-B4F9-4C03-B2D6-835014C0DC0B}" srcOrd="2" destOrd="0" presId="urn:microsoft.com/office/officeart/2018/2/layout/IconCircleList"/>
    <dgm:cxn modelId="{3728DA20-E773-4E8E-B004-C7F809CD218D}" type="presParOf" srcId="{B79C30E4-F71A-4230-86E8-BC6F5C6FA5F9}" destId="{4462B70B-1864-42CD-B299-763D5BCA8D6D}" srcOrd="3" destOrd="0" presId="urn:microsoft.com/office/officeart/2018/2/layout/IconCircleList"/>
    <dgm:cxn modelId="{A3F18C0C-EED9-4748-9DCF-8A30C2585855}" type="presParOf" srcId="{899691D5-DAF4-4E1D-936D-90F61998841A}" destId="{67197ECA-BAD6-45B1-A80D-CBDD10C0DD3C}" srcOrd="1" destOrd="0" presId="urn:microsoft.com/office/officeart/2018/2/layout/IconCircleList"/>
    <dgm:cxn modelId="{0206EE5A-90D8-43AE-AAE3-8218D0991EAD}" type="presParOf" srcId="{899691D5-DAF4-4E1D-936D-90F61998841A}" destId="{3FDF70E0-6633-4AF4-A28D-71C6780EB3D0}" srcOrd="2" destOrd="0" presId="urn:microsoft.com/office/officeart/2018/2/layout/IconCircleList"/>
    <dgm:cxn modelId="{0C9FCD71-69EF-4154-882F-8E6C135537AD}" type="presParOf" srcId="{3FDF70E0-6633-4AF4-A28D-71C6780EB3D0}" destId="{EE7CAE00-6536-4C63-BA67-3D18EEE53142}" srcOrd="0" destOrd="0" presId="urn:microsoft.com/office/officeart/2018/2/layout/IconCircleList"/>
    <dgm:cxn modelId="{2CCD98FE-E615-483A-906F-306973F10C13}" type="presParOf" srcId="{3FDF70E0-6633-4AF4-A28D-71C6780EB3D0}" destId="{84CF3CBE-A275-4ED3-9AE6-D69BAC4F110B}" srcOrd="1" destOrd="0" presId="urn:microsoft.com/office/officeart/2018/2/layout/IconCircleList"/>
    <dgm:cxn modelId="{EE919D05-A4DF-4467-9697-C317AFFE534D}" type="presParOf" srcId="{3FDF70E0-6633-4AF4-A28D-71C6780EB3D0}" destId="{8909BF14-D9FE-4EE2-9B3F-A69D3CBB1368}" srcOrd="2" destOrd="0" presId="urn:microsoft.com/office/officeart/2018/2/layout/IconCircleList"/>
    <dgm:cxn modelId="{8B9420D2-20CE-4825-954C-4FB69441DCBB}" type="presParOf" srcId="{3FDF70E0-6633-4AF4-A28D-71C6780EB3D0}" destId="{1F7689F3-9462-4DAA-B1D3-C5D69BECBE34}" srcOrd="3" destOrd="0" presId="urn:microsoft.com/office/officeart/2018/2/layout/IconCircleList"/>
    <dgm:cxn modelId="{3AA7808C-96FC-4C03-A017-852EBAE33678}" type="presParOf" srcId="{899691D5-DAF4-4E1D-936D-90F61998841A}" destId="{921B7C60-7E5B-4490-9CCB-28B24BFF2CF3}" srcOrd="3" destOrd="0" presId="urn:microsoft.com/office/officeart/2018/2/layout/IconCircleList"/>
    <dgm:cxn modelId="{5221809B-0172-4725-AA3D-09879A2D6896}" type="presParOf" srcId="{899691D5-DAF4-4E1D-936D-90F61998841A}" destId="{20FFBAC0-7DDE-4845-90E1-5AE3A23F450C}" srcOrd="4" destOrd="0" presId="urn:microsoft.com/office/officeart/2018/2/layout/IconCircleList"/>
    <dgm:cxn modelId="{BA5A5ACE-62E1-4E59-A3F0-5DCFDC818FAD}" type="presParOf" srcId="{20FFBAC0-7DDE-4845-90E1-5AE3A23F450C}" destId="{66B4DA9C-E711-48CE-89A4-68E60C75224A}" srcOrd="0" destOrd="0" presId="urn:microsoft.com/office/officeart/2018/2/layout/IconCircleList"/>
    <dgm:cxn modelId="{11B7CC38-FDF2-4BFD-8164-34ECE94CF4D8}" type="presParOf" srcId="{20FFBAC0-7DDE-4845-90E1-5AE3A23F450C}" destId="{E9A2DA58-7481-43D9-8E1B-4988BE5C319D}" srcOrd="1" destOrd="0" presId="urn:microsoft.com/office/officeart/2018/2/layout/IconCircleList"/>
    <dgm:cxn modelId="{145D5994-E7EC-4D54-AA3D-CC99F959FDE6}" type="presParOf" srcId="{20FFBAC0-7DDE-4845-90E1-5AE3A23F450C}" destId="{7A0557BE-5B98-4C70-98EF-B3FD9D013D90}" srcOrd="2" destOrd="0" presId="urn:microsoft.com/office/officeart/2018/2/layout/IconCircleList"/>
    <dgm:cxn modelId="{842A1D20-0A1B-40D1-9238-0DA4EE88F144}" type="presParOf" srcId="{20FFBAC0-7DDE-4845-90E1-5AE3A23F450C}" destId="{13B2E2A7-0C1C-452D-857C-2D272A87CA04}" srcOrd="3" destOrd="0" presId="urn:microsoft.com/office/officeart/2018/2/layout/IconCircleList"/>
    <dgm:cxn modelId="{30B2FD4A-6BAB-4070-B585-1BA31F77E061}" type="presParOf" srcId="{899691D5-DAF4-4E1D-936D-90F61998841A}" destId="{0E06E663-4C6E-4F44-A774-884B1525F87B}" srcOrd="5" destOrd="0" presId="urn:microsoft.com/office/officeart/2018/2/layout/IconCircleList"/>
    <dgm:cxn modelId="{F0E4A974-2F32-4E2A-8F1B-3A0F9E0498BD}" type="presParOf" srcId="{899691D5-DAF4-4E1D-936D-90F61998841A}" destId="{30B96CA2-12AC-4377-A1C0-C79CAE6F8C02}" srcOrd="6" destOrd="0" presId="urn:microsoft.com/office/officeart/2018/2/layout/IconCircleList"/>
    <dgm:cxn modelId="{5D5913AE-3735-40A2-8E63-F1CF31615479}" type="presParOf" srcId="{30B96CA2-12AC-4377-A1C0-C79CAE6F8C02}" destId="{E8B8FECF-234D-4A83-A23F-9B59674A4D07}" srcOrd="0" destOrd="0" presId="urn:microsoft.com/office/officeart/2018/2/layout/IconCircleList"/>
    <dgm:cxn modelId="{C17498C7-0AF9-4332-80A3-0146913FD984}" type="presParOf" srcId="{30B96CA2-12AC-4377-A1C0-C79CAE6F8C02}" destId="{49FB31A8-644C-4FBB-B936-EB9F509106C2}" srcOrd="1" destOrd="0" presId="urn:microsoft.com/office/officeart/2018/2/layout/IconCircleList"/>
    <dgm:cxn modelId="{3FA4AC29-0D53-4DEB-98E2-71B67FDB35EB}" type="presParOf" srcId="{30B96CA2-12AC-4377-A1C0-C79CAE6F8C02}" destId="{FD86720B-58AF-4844-9F5F-3773E03D23C0}" srcOrd="2" destOrd="0" presId="urn:microsoft.com/office/officeart/2018/2/layout/IconCircleList"/>
    <dgm:cxn modelId="{71049B56-1482-4B3F-A2F4-A70BCDD11E7F}" type="presParOf" srcId="{30B96CA2-12AC-4377-A1C0-C79CAE6F8C02}" destId="{261D89FA-E203-426E-AC2F-0D6A4142CDC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50634-8E11-4A41-BA63-A956D1A201D2}">
      <dsp:nvSpPr>
        <dsp:cNvPr id="0" name=""/>
        <dsp:cNvSpPr/>
      </dsp:nvSpPr>
      <dsp:spPr>
        <a:xfrm>
          <a:off x="61010" y="735961"/>
          <a:ext cx="1497037" cy="14970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461A71-46AF-4199-88B4-D38E6FDBDEF0}">
      <dsp:nvSpPr>
        <dsp:cNvPr id="0" name=""/>
        <dsp:cNvSpPr/>
      </dsp:nvSpPr>
      <dsp:spPr>
        <a:xfrm>
          <a:off x="375388" y="1050339"/>
          <a:ext cx="868281" cy="8682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62B70B-1864-42CD-B299-763D5BCA8D6D}">
      <dsp:nvSpPr>
        <dsp:cNvPr id="0" name=""/>
        <dsp:cNvSpPr/>
      </dsp:nvSpPr>
      <dsp:spPr>
        <a:xfrm>
          <a:off x="1878841" y="735961"/>
          <a:ext cx="3528731" cy="1497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a:t>Leverage Remarketing Campaigns: Given the increase in returning visitors, set up remarketing campaigns targeting users who have visited specific pages but did not convert, with personalized messaging and offers.</a:t>
          </a:r>
        </a:p>
      </dsp:txBody>
      <dsp:txXfrm>
        <a:off x="1878841" y="735961"/>
        <a:ext cx="3528731" cy="1497037"/>
      </dsp:txXfrm>
    </dsp:sp>
    <dsp:sp modelId="{EE7CAE00-6536-4C63-BA67-3D18EEE53142}">
      <dsp:nvSpPr>
        <dsp:cNvPr id="0" name=""/>
        <dsp:cNvSpPr/>
      </dsp:nvSpPr>
      <dsp:spPr>
        <a:xfrm>
          <a:off x="6022427" y="735961"/>
          <a:ext cx="1497037" cy="14970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CF3CBE-A275-4ED3-9AE6-D69BAC4F110B}">
      <dsp:nvSpPr>
        <dsp:cNvPr id="0" name=""/>
        <dsp:cNvSpPr/>
      </dsp:nvSpPr>
      <dsp:spPr>
        <a:xfrm>
          <a:off x="6336805" y="1050339"/>
          <a:ext cx="868281" cy="8682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7689F3-9462-4DAA-B1D3-C5D69BECBE34}">
      <dsp:nvSpPr>
        <dsp:cNvPr id="0" name=""/>
        <dsp:cNvSpPr/>
      </dsp:nvSpPr>
      <dsp:spPr>
        <a:xfrm>
          <a:off x="7840259" y="735961"/>
          <a:ext cx="3528731" cy="1497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a:t>Streamline Mobile Checkout: Implement a simplified, secure mobile payment process with fewer steps and autofill options to reduce friction, which can improve conversion rates and enhance the overall mobile shopping experience</a:t>
          </a:r>
        </a:p>
      </dsp:txBody>
      <dsp:txXfrm>
        <a:off x="7840259" y="735961"/>
        <a:ext cx="3528731" cy="1497037"/>
      </dsp:txXfrm>
    </dsp:sp>
    <dsp:sp modelId="{66B4DA9C-E711-48CE-89A4-68E60C75224A}">
      <dsp:nvSpPr>
        <dsp:cNvPr id="0" name=""/>
        <dsp:cNvSpPr/>
      </dsp:nvSpPr>
      <dsp:spPr>
        <a:xfrm>
          <a:off x="61010" y="3147721"/>
          <a:ext cx="1497037" cy="14970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A2DA58-7481-43D9-8E1B-4988BE5C319D}">
      <dsp:nvSpPr>
        <dsp:cNvPr id="0" name=""/>
        <dsp:cNvSpPr/>
      </dsp:nvSpPr>
      <dsp:spPr>
        <a:xfrm>
          <a:off x="375388" y="3462099"/>
          <a:ext cx="868281" cy="8682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B2E2A7-0C1C-452D-857C-2D272A87CA04}">
      <dsp:nvSpPr>
        <dsp:cNvPr id="0" name=""/>
        <dsp:cNvSpPr/>
      </dsp:nvSpPr>
      <dsp:spPr>
        <a:xfrm>
          <a:off x="1878841" y="3147721"/>
          <a:ext cx="3528731" cy="1497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a:t>Social Media and Community Engagement: Increase efforts on social media to build community and drive both new and returning visitors. Engaging content and community discussions can enhance brand loyalty and encourage repeat visits.</a:t>
          </a:r>
        </a:p>
      </dsp:txBody>
      <dsp:txXfrm>
        <a:off x="1878841" y="3147721"/>
        <a:ext cx="3528731" cy="1497037"/>
      </dsp:txXfrm>
    </dsp:sp>
    <dsp:sp modelId="{E8B8FECF-234D-4A83-A23F-9B59674A4D07}">
      <dsp:nvSpPr>
        <dsp:cNvPr id="0" name=""/>
        <dsp:cNvSpPr/>
      </dsp:nvSpPr>
      <dsp:spPr>
        <a:xfrm>
          <a:off x="6022427" y="3147721"/>
          <a:ext cx="1497037" cy="149703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FB31A8-644C-4FBB-B936-EB9F509106C2}">
      <dsp:nvSpPr>
        <dsp:cNvPr id="0" name=""/>
        <dsp:cNvSpPr/>
      </dsp:nvSpPr>
      <dsp:spPr>
        <a:xfrm>
          <a:off x="6336805" y="3462099"/>
          <a:ext cx="868281" cy="86828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1D89FA-E203-426E-AC2F-0D6A4142CDCA}">
      <dsp:nvSpPr>
        <dsp:cNvPr id="0" name=""/>
        <dsp:cNvSpPr/>
      </dsp:nvSpPr>
      <dsp:spPr>
        <a:xfrm>
          <a:off x="7840259" y="3147721"/>
          <a:ext cx="3528731" cy="1497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a:t>Partnerships and Collaborations: Collaborate with influencers or brands that share a similar audience to tap into their followers and drive traffic to the site. Ensure the collaborations are authentic and offer value to both user bases.</a:t>
          </a:r>
        </a:p>
      </dsp:txBody>
      <dsp:txXfrm>
        <a:off x="7840259" y="3147721"/>
        <a:ext cx="3528731" cy="149703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0.47226</cdr:x>
      <cdr:y>0.9143</cdr:y>
    </cdr:from>
    <cdr:to>
      <cdr:x>0.51563</cdr:x>
      <cdr:y>0.98149</cdr:y>
    </cdr:to>
    <cdr:sp macro="" textlink="">
      <cdr:nvSpPr>
        <cdr:cNvPr id="2" name="Rectangle 1">
          <a:extLst xmlns:a="http://schemas.openxmlformats.org/drawingml/2006/main">
            <a:ext uri="{FF2B5EF4-FFF2-40B4-BE49-F238E27FC236}">
              <a16:creationId xmlns:a16="http://schemas.microsoft.com/office/drawing/2014/main" id="{CB6F9797-31BC-3FD1-7FDD-49FFBA60A575}"/>
            </a:ext>
          </a:extLst>
        </cdr:cNvPr>
        <cdr:cNvSpPr/>
      </cdr:nvSpPr>
      <cdr:spPr>
        <a:xfrm xmlns:a="http://schemas.openxmlformats.org/drawingml/2006/main">
          <a:off x="2036650" y="2576673"/>
          <a:ext cx="187036" cy="189374"/>
        </a:xfrm>
        <a:prstGeom xmlns:a="http://schemas.openxmlformats.org/drawingml/2006/main" prst="rect">
          <a:avLst/>
        </a:prstGeom>
        <a:solidFill xmlns:a="http://schemas.openxmlformats.org/drawingml/2006/main">
          <a:schemeClr val="accent2"/>
        </a:solidFill>
        <a:ln xmlns:a="http://schemas.openxmlformats.org/drawingml/2006/main">
          <a:solidFill>
            <a:schemeClr val="accent2"/>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endParaRPr lang="en-US" sz="1000" dirty="0"/>
        </a:p>
      </cdr:txBody>
    </cdr:sp>
  </cdr:relSizeAnchor>
  <cdr:relSizeAnchor xmlns:cdr="http://schemas.openxmlformats.org/drawingml/2006/chartDrawing">
    <cdr:from>
      <cdr:x>0.51708</cdr:x>
      <cdr:y>0.91263</cdr:y>
    </cdr:from>
    <cdr:to>
      <cdr:x>0.65564</cdr:x>
      <cdr:y>0.97983</cdr:y>
    </cdr:to>
    <cdr:sp macro="" textlink="">
      <cdr:nvSpPr>
        <cdr:cNvPr id="4" name="TextBox 3">
          <a:extLst xmlns:a="http://schemas.openxmlformats.org/drawingml/2006/main">
            <a:ext uri="{FF2B5EF4-FFF2-40B4-BE49-F238E27FC236}">
              <a16:creationId xmlns:a16="http://schemas.microsoft.com/office/drawing/2014/main" id="{AC0565F9-C2B7-D1D0-FA99-5CB734CA0EF6}"/>
            </a:ext>
          </a:extLst>
        </cdr:cNvPr>
        <cdr:cNvSpPr txBox="1"/>
      </cdr:nvSpPr>
      <cdr:spPr>
        <a:xfrm xmlns:a="http://schemas.openxmlformats.org/drawingml/2006/main">
          <a:off x="2229939" y="2571979"/>
          <a:ext cx="597543" cy="18937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000" b="1" dirty="0">
              <a:latin typeface="Times New Roman" panose="02020603050405020304" pitchFamily="18" charset="0"/>
              <a:cs typeface="Times New Roman" panose="02020603050405020304" pitchFamily="18" charset="0"/>
            </a:rPr>
            <a:t>Jewelry</a:t>
          </a:r>
        </a:p>
      </cdr:txBody>
    </cdr:sp>
  </cdr:relSizeAnchor>
  <cdr:relSizeAnchor xmlns:cdr="http://schemas.openxmlformats.org/drawingml/2006/chartDrawing">
    <cdr:from>
      <cdr:x>0.66281</cdr:x>
      <cdr:y>0.9143</cdr:y>
    </cdr:from>
    <cdr:to>
      <cdr:x>0.70618</cdr:x>
      <cdr:y>0.98149</cdr:y>
    </cdr:to>
    <cdr:sp macro="" textlink="">
      <cdr:nvSpPr>
        <cdr:cNvPr id="5" name="Rectangle 4">
          <a:extLst xmlns:a="http://schemas.openxmlformats.org/drawingml/2006/main">
            <a:ext uri="{FF2B5EF4-FFF2-40B4-BE49-F238E27FC236}">
              <a16:creationId xmlns:a16="http://schemas.microsoft.com/office/drawing/2014/main" id="{01D4A4D6-9F98-2F2F-3F03-C26F35421941}"/>
            </a:ext>
          </a:extLst>
        </cdr:cNvPr>
        <cdr:cNvSpPr/>
      </cdr:nvSpPr>
      <cdr:spPr>
        <a:xfrm xmlns:a="http://schemas.openxmlformats.org/drawingml/2006/main">
          <a:off x="2858400" y="2576673"/>
          <a:ext cx="187036" cy="189374"/>
        </a:xfrm>
        <a:prstGeom xmlns:a="http://schemas.openxmlformats.org/drawingml/2006/main" prst="rect">
          <a:avLst/>
        </a:prstGeom>
        <a:solidFill xmlns:a="http://schemas.openxmlformats.org/drawingml/2006/main">
          <a:schemeClr val="accent5"/>
        </a:solidFill>
        <a:ln xmlns:a="http://schemas.openxmlformats.org/drawingml/2006/main">
          <a:solidFill>
            <a:schemeClr val="accent5"/>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US" sz="1000" dirty="0"/>
        </a:p>
      </cdr:txBody>
    </cdr:sp>
  </cdr:relSizeAnchor>
  <cdr:relSizeAnchor xmlns:cdr="http://schemas.openxmlformats.org/drawingml/2006/chartDrawing">
    <cdr:from>
      <cdr:x>0.703</cdr:x>
      <cdr:y>0.91263</cdr:y>
    </cdr:from>
    <cdr:to>
      <cdr:x>0.92219</cdr:x>
      <cdr:y>1</cdr:y>
    </cdr:to>
    <cdr:sp macro="" textlink="">
      <cdr:nvSpPr>
        <cdr:cNvPr id="8" name="TextBox 7">
          <a:extLst xmlns:a="http://schemas.openxmlformats.org/drawingml/2006/main">
            <a:ext uri="{FF2B5EF4-FFF2-40B4-BE49-F238E27FC236}">
              <a16:creationId xmlns:a16="http://schemas.microsoft.com/office/drawing/2014/main" id="{CB188618-B87A-0FEE-BA4A-8854CE7900FC}"/>
            </a:ext>
          </a:extLst>
        </cdr:cNvPr>
        <cdr:cNvSpPr txBox="1"/>
      </cdr:nvSpPr>
      <cdr:spPr>
        <a:xfrm xmlns:a="http://schemas.openxmlformats.org/drawingml/2006/main">
          <a:off x="3031724" y="2571980"/>
          <a:ext cx="945267" cy="246221"/>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000" b="1" dirty="0">
              <a:latin typeface="Times New Roman" panose="02020603050405020304" pitchFamily="18" charset="0"/>
              <a:cs typeface="Times New Roman" panose="02020603050405020304" pitchFamily="18" charset="0"/>
            </a:rPr>
            <a:t>Party Supplies</a:t>
          </a:r>
        </a:p>
      </cdr:txBody>
    </cdr:sp>
  </cdr:relSizeAnchor>
</c:userShapes>
</file>

<file path=ppt/drawings/drawing2.xml><?xml version="1.0" encoding="utf-8"?>
<c:userShapes xmlns:c="http://schemas.openxmlformats.org/drawingml/2006/chart">
  <cdr:relSizeAnchor xmlns:cdr="http://schemas.openxmlformats.org/drawingml/2006/chartDrawing">
    <cdr:from>
      <cdr:x>0.10458</cdr:x>
      <cdr:y>0.84616</cdr:y>
    </cdr:from>
    <cdr:to>
      <cdr:x>0.14762</cdr:x>
      <cdr:y>0.89849</cdr:y>
    </cdr:to>
    <cdr:sp macro="" textlink="">
      <cdr:nvSpPr>
        <cdr:cNvPr id="3" name="Rectangle 2">
          <a:extLst xmlns:a="http://schemas.openxmlformats.org/drawingml/2006/main">
            <a:ext uri="{FF2B5EF4-FFF2-40B4-BE49-F238E27FC236}">
              <a16:creationId xmlns:a16="http://schemas.microsoft.com/office/drawing/2014/main" id="{50B91743-37F9-A634-E503-110A08897B44}"/>
            </a:ext>
          </a:extLst>
        </cdr:cNvPr>
        <cdr:cNvSpPr/>
      </cdr:nvSpPr>
      <cdr:spPr>
        <a:xfrm xmlns:a="http://schemas.openxmlformats.org/drawingml/2006/main">
          <a:off x="470489" y="3277336"/>
          <a:ext cx="193606" cy="202673"/>
        </a:xfrm>
        <a:prstGeom xmlns:a="http://schemas.openxmlformats.org/drawingml/2006/main" prst="rect">
          <a:avLst/>
        </a:prstGeom>
        <a:solidFill xmlns:a="http://schemas.openxmlformats.org/drawingml/2006/main">
          <a:schemeClr val="accent3"/>
        </a:solidFill>
        <a:ln xmlns:a="http://schemas.openxmlformats.org/drawingml/2006/main">
          <a:solidFill>
            <a:schemeClr val="accent5"/>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US" sz="1000" dirty="0"/>
        </a:p>
      </cdr:txBody>
    </cdr:sp>
  </cdr:relSizeAnchor>
  <cdr:relSizeAnchor xmlns:cdr="http://schemas.openxmlformats.org/drawingml/2006/chartDrawing">
    <cdr:from>
      <cdr:x>0.13479</cdr:x>
      <cdr:y>0.84054</cdr:y>
    </cdr:from>
    <cdr:to>
      <cdr:x>0.34962</cdr:x>
      <cdr:y>0.90411</cdr:y>
    </cdr:to>
    <cdr:sp macro="" textlink="">
      <cdr:nvSpPr>
        <cdr:cNvPr id="4" name="TextBox 3">
          <a:extLst xmlns:a="http://schemas.openxmlformats.org/drawingml/2006/main">
            <a:ext uri="{FF2B5EF4-FFF2-40B4-BE49-F238E27FC236}">
              <a16:creationId xmlns:a16="http://schemas.microsoft.com/office/drawing/2014/main" id="{BB58A212-6A16-11C8-9C67-FABA9230593F}"/>
            </a:ext>
          </a:extLst>
        </cdr:cNvPr>
        <cdr:cNvSpPr txBox="1"/>
      </cdr:nvSpPr>
      <cdr:spPr>
        <a:xfrm xmlns:a="http://schemas.openxmlformats.org/drawingml/2006/main">
          <a:off x="606399" y="3255564"/>
          <a:ext cx="966439" cy="24622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000" b="1" dirty="0">
              <a:latin typeface="Times New Roman" panose="02020603050405020304" pitchFamily="18" charset="0"/>
              <a:cs typeface="Times New Roman" panose="02020603050405020304" pitchFamily="18" charset="0"/>
            </a:rPr>
            <a:t>Home &amp; Living</a:t>
          </a:r>
        </a:p>
      </cdr:txBody>
    </cdr:sp>
  </cdr:relSizeAnchor>
  <cdr:relSizeAnchor xmlns:cdr="http://schemas.openxmlformats.org/drawingml/2006/chartDrawing">
    <cdr:from>
      <cdr:x>0.36753</cdr:x>
      <cdr:y>0.84603</cdr:y>
    </cdr:from>
    <cdr:to>
      <cdr:x>0.41102</cdr:x>
      <cdr:y>0.89516</cdr:y>
    </cdr:to>
    <cdr:sp macro="" textlink="">
      <cdr:nvSpPr>
        <cdr:cNvPr id="5" name="Rectangle 4">
          <a:extLst xmlns:a="http://schemas.openxmlformats.org/drawingml/2006/main">
            <a:ext uri="{FF2B5EF4-FFF2-40B4-BE49-F238E27FC236}">
              <a16:creationId xmlns:a16="http://schemas.microsoft.com/office/drawing/2014/main" id="{FABA2810-DD42-0B2D-9D38-D9063EC6D66C}"/>
            </a:ext>
          </a:extLst>
        </cdr:cNvPr>
        <cdr:cNvSpPr/>
      </cdr:nvSpPr>
      <cdr:spPr>
        <a:xfrm xmlns:a="http://schemas.openxmlformats.org/drawingml/2006/main">
          <a:off x="1653391" y="3324005"/>
          <a:ext cx="195660" cy="193002"/>
        </a:xfrm>
        <a:prstGeom xmlns:a="http://schemas.openxmlformats.org/drawingml/2006/main" prst="rect">
          <a:avLst/>
        </a:prstGeom>
        <a:solidFill xmlns:a="http://schemas.openxmlformats.org/drawingml/2006/main">
          <a:schemeClr val="accent6"/>
        </a:solidFill>
        <a:ln xmlns:a="http://schemas.openxmlformats.org/drawingml/2006/main">
          <a:solidFill>
            <a:schemeClr val="accent5"/>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US" sz="1000" dirty="0"/>
        </a:p>
      </cdr:txBody>
    </cdr:sp>
  </cdr:relSizeAnchor>
  <cdr:relSizeAnchor xmlns:cdr="http://schemas.openxmlformats.org/drawingml/2006/chartDrawing">
    <cdr:from>
      <cdr:x>0.40818</cdr:x>
      <cdr:y>0.83723</cdr:y>
    </cdr:from>
    <cdr:to>
      <cdr:x>0.56009</cdr:x>
      <cdr:y>0.88662</cdr:y>
    </cdr:to>
    <cdr:sp macro="" textlink="">
      <cdr:nvSpPr>
        <cdr:cNvPr id="6" name="TextBox 5">
          <a:extLst xmlns:a="http://schemas.openxmlformats.org/drawingml/2006/main">
            <a:ext uri="{FF2B5EF4-FFF2-40B4-BE49-F238E27FC236}">
              <a16:creationId xmlns:a16="http://schemas.microsoft.com/office/drawing/2014/main" id="{0C9D0794-E618-6739-F24B-34B3F31715C7}"/>
            </a:ext>
          </a:extLst>
        </cdr:cNvPr>
        <cdr:cNvSpPr txBox="1"/>
      </cdr:nvSpPr>
      <cdr:spPr>
        <a:xfrm xmlns:a="http://schemas.openxmlformats.org/drawingml/2006/main">
          <a:off x="1836271" y="3289405"/>
          <a:ext cx="683394" cy="19406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000" b="1" dirty="0">
              <a:latin typeface="Times New Roman" panose="02020603050405020304" pitchFamily="18" charset="0"/>
              <a:cs typeface="Times New Roman" panose="02020603050405020304" pitchFamily="18" charset="0"/>
            </a:rPr>
            <a:t>Clothing</a:t>
          </a:r>
        </a:p>
      </cdr:txBody>
    </cdr:sp>
  </cdr:relSizeAnchor>
  <cdr:relSizeAnchor xmlns:cdr="http://schemas.openxmlformats.org/drawingml/2006/chartDrawing">
    <cdr:from>
      <cdr:x>0.56626</cdr:x>
      <cdr:y>0.84311</cdr:y>
    </cdr:from>
    <cdr:to>
      <cdr:x>0.6093</cdr:x>
      <cdr:y>0.89544</cdr:y>
    </cdr:to>
    <cdr:sp macro="" textlink="">
      <cdr:nvSpPr>
        <cdr:cNvPr id="7" name="Rectangle 6">
          <a:extLst xmlns:a="http://schemas.openxmlformats.org/drawingml/2006/main">
            <a:ext uri="{FF2B5EF4-FFF2-40B4-BE49-F238E27FC236}">
              <a16:creationId xmlns:a16="http://schemas.microsoft.com/office/drawing/2014/main" id="{FABA2810-DD42-0B2D-9D38-D9063EC6D66C}"/>
            </a:ext>
          </a:extLst>
        </cdr:cNvPr>
        <cdr:cNvSpPr/>
      </cdr:nvSpPr>
      <cdr:spPr>
        <a:xfrm xmlns:a="http://schemas.openxmlformats.org/drawingml/2006/main">
          <a:off x="2547441" y="3312519"/>
          <a:ext cx="193606" cy="205590"/>
        </a:xfrm>
        <a:prstGeom xmlns:a="http://schemas.openxmlformats.org/drawingml/2006/main" prst="rect">
          <a:avLst/>
        </a:prstGeom>
        <a:solidFill xmlns:a="http://schemas.openxmlformats.org/drawingml/2006/main">
          <a:schemeClr val="bg2">
            <a:lumMod val="90000"/>
          </a:schemeClr>
        </a:solidFill>
        <a:ln xmlns:a="http://schemas.openxmlformats.org/drawingml/2006/main">
          <a:solidFill>
            <a:schemeClr val="accent5"/>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US" sz="10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4/30/24</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4/30/24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1</a:t>
            </a:fld>
            <a:endParaRPr lang="en-US"/>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2</a:t>
            </a:fld>
            <a:endParaRPr lang="en-US"/>
          </a:p>
        </p:txBody>
      </p:sp>
    </p:spTree>
    <p:extLst>
      <p:ext uri="{BB962C8B-B14F-4D97-AF65-F5344CB8AC3E}">
        <p14:creationId xmlns:p14="http://schemas.microsoft.com/office/powerpoint/2010/main" val="1951919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0C6A29-4676-420C-BBE3-ACC2B80F64D4}" type="slidenum">
              <a:rPr lang="en-US" smtClean="0"/>
              <a:t>3</a:t>
            </a:fld>
            <a:endParaRPr lang="en-US"/>
          </a:p>
        </p:txBody>
      </p:sp>
    </p:spTree>
    <p:extLst>
      <p:ext uri="{BB962C8B-B14F-4D97-AF65-F5344CB8AC3E}">
        <p14:creationId xmlns:p14="http://schemas.microsoft.com/office/powerpoint/2010/main" val="2439709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4</a:t>
            </a:fld>
            <a:endParaRPr lang="en-US"/>
          </a:p>
        </p:txBody>
      </p:sp>
    </p:spTree>
    <p:extLst>
      <p:ext uri="{BB962C8B-B14F-4D97-AF65-F5344CB8AC3E}">
        <p14:creationId xmlns:p14="http://schemas.microsoft.com/office/powerpoint/2010/main" val="202840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5</a:t>
            </a:fld>
            <a:endParaRPr lang="en-US"/>
          </a:p>
        </p:txBody>
      </p:sp>
    </p:spTree>
    <p:extLst>
      <p:ext uri="{BB962C8B-B14F-4D97-AF65-F5344CB8AC3E}">
        <p14:creationId xmlns:p14="http://schemas.microsoft.com/office/powerpoint/2010/main" val="1721109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6</a:t>
            </a:fld>
            <a:endParaRPr lang="en-US"/>
          </a:p>
        </p:txBody>
      </p:sp>
    </p:spTree>
    <p:extLst>
      <p:ext uri="{BB962C8B-B14F-4D97-AF65-F5344CB8AC3E}">
        <p14:creationId xmlns:p14="http://schemas.microsoft.com/office/powerpoint/2010/main" val="922949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7</a:t>
            </a:fld>
            <a:endParaRPr lang="en-US"/>
          </a:p>
        </p:txBody>
      </p:sp>
    </p:spTree>
    <p:extLst>
      <p:ext uri="{BB962C8B-B14F-4D97-AF65-F5344CB8AC3E}">
        <p14:creationId xmlns:p14="http://schemas.microsoft.com/office/powerpoint/2010/main" val="2316091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B57D50D-BAA9-464B-B391-243138E078D8}" type="slidenum">
              <a:rPr lang="en-US" smtClean="0"/>
              <a:t>8</a:t>
            </a:fld>
            <a:endParaRPr lang="en-US"/>
          </a:p>
        </p:txBody>
      </p:sp>
    </p:spTree>
    <p:extLst>
      <p:ext uri="{BB962C8B-B14F-4D97-AF65-F5344CB8AC3E}">
        <p14:creationId xmlns:p14="http://schemas.microsoft.com/office/powerpoint/2010/main" val="3206739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0"/>
            <a:ext cx="12192000" cy="8286859"/>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anchor="b" anchorCtr="0">
            <a:noAutofit/>
          </a:bodyPr>
          <a:lstStyle>
            <a:lvl1pPr algn="r">
              <a:defRPr sz="4400">
                <a:solidFill>
                  <a:schemeClr val="bg1"/>
                </a:solidFill>
              </a:defRPr>
            </a:lvl1pPr>
          </a:lstStyle>
          <a:p>
            <a:r>
              <a:rPr lang="en-US"/>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489189" y="941148"/>
            <a:ext cx="11182430" cy="4797821"/>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a:noAutofit/>
          </a:bodyPr>
          <a:lstStyle>
            <a:lvl1pPr algn="ctr">
              <a:defRPr>
                <a:solidFill>
                  <a:schemeClr val="bg1"/>
                </a:solidFill>
              </a:defRPr>
            </a:lvl1pPr>
          </a:lstStyle>
          <a:p>
            <a:r>
              <a:rPr lang="en-US"/>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2000">
                <a:solidFill>
                  <a:schemeClr val="bg1"/>
                </a:solidFill>
              </a:defRPr>
            </a:lvl1pPr>
          </a:lstStyle>
          <a:p>
            <a:r>
              <a:rPr lang="en-US"/>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a:normAutofit/>
          </a:bodyPr>
          <a:lstStyle>
            <a:lvl1pPr algn="ctr">
              <a:defRPr sz="6000"/>
            </a:lvl1pPr>
          </a:lstStyle>
          <a:p>
            <a:r>
              <a:rPr lang="en-US"/>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CB8A6E1-44B2-54E1-6460-1C9B27EE75FD}"/>
              </a:ext>
              <a:ext uri="{C183D7F6-B498-43B3-948B-1728B52AA6E4}">
                <adec:decorative xmlns:adec="http://schemas.microsoft.com/office/drawing/2017/decorative" val="1"/>
              </a:ext>
            </a:extLst>
          </p:cNvPr>
          <p:cNvGrpSpPr/>
          <p:nvPr userDrawn="1"/>
        </p:nvGrpSpPr>
        <p:grpSpPr>
          <a:xfrm>
            <a:off x="0" y="0"/>
            <a:ext cx="5698912" cy="6858001"/>
            <a:chOff x="0" y="-1"/>
            <a:chExt cx="5698912" cy="6858001"/>
          </a:xfrm>
        </p:grpSpPr>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4F9EBE3B-A856-C23C-4698-B764DF4BC70D}"/>
              </a:ext>
            </a:extLst>
          </p:cNvPr>
          <p:cNvSpPr>
            <a:spLocks noGrp="1"/>
          </p:cNvSpPr>
          <p:nvPr>
            <p:ph type="title" hasCustomPrompt="1"/>
          </p:nvPr>
        </p:nvSpPr>
        <p:spPr>
          <a:xfrm>
            <a:off x="6222118" y="262762"/>
            <a:ext cx="5507421" cy="3649718"/>
          </a:xfrm>
        </p:spPr>
        <p:txBody>
          <a:bodyPr anchor="b">
            <a:normAutofit/>
          </a:bodyPr>
          <a:lstStyle>
            <a:lvl1pPr>
              <a:defRPr sz="6000"/>
            </a:lvl1pPr>
          </a:lstStyle>
          <a:p>
            <a:r>
              <a:rPr lang="en-US"/>
              <a:t>Click to add title</a:t>
            </a:r>
          </a:p>
        </p:txBody>
      </p:sp>
      <p:sp>
        <p:nvSpPr>
          <p:cNvPr id="8" name="Picture Placeholder 7">
            <a:extLst>
              <a:ext uri="{FF2B5EF4-FFF2-40B4-BE49-F238E27FC236}">
                <a16:creationId xmlns:a16="http://schemas.microsoft.com/office/drawing/2014/main" id="{74C9CB37-5251-201C-ACE3-FD69A00C772E}"/>
              </a:ext>
            </a:extLst>
          </p:cNvPr>
          <p:cNvSpPr>
            <a:spLocks noGrp="1"/>
          </p:cNvSpPr>
          <p:nvPr>
            <p:ph type="pic" sz="quarter" idx="14"/>
          </p:nvPr>
        </p:nvSpPr>
        <p:spPr>
          <a:xfrm>
            <a:off x="707393" y="847600"/>
            <a:ext cx="4619625" cy="4617720"/>
          </a:xfrm>
          <a:prstGeom prst="ellipse">
            <a:avLst/>
          </a:prstGeom>
          <a:noFill/>
        </p:spPr>
        <p:txBody>
          <a:bodyPr tIns="548640">
            <a:normAutofit/>
          </a:bodyPr>
          <a:lstStyle>
            <a:lvl1pPr marL="0" indent="0" algn="ctr">
              <a:buNone/>
              <a:defRPr sz="2000"/>
            </a:lvl1pPr>
          </a:lstStyle>
          <a:p>
            <a:r>
              <a:rPr lang="en-US"/>
              <a:t>Click icon to add picture</a:t>
            </a:r>
          </a:p>
        </p:txBody>
      </p:sp>
      <p:sp>
        <p:nvSpPr>
          <p:cNvPr id="9" name="Content Placeholder 2">
            <a:extLst>
              <a:ext uri="{FF2B5EF4-FFF2-40B4-BE49-F238E27FC236}">
                <a16:creationId xmlns:a16="http://schemas.microsoft.com/office/drawing/2014/main" id="{EBF08299-9068-827D-783B-BFF5B95E9574}"/>
              </a:ext>
            </a:extLst>
          </p:cNvPr>
          <p:cNvSpPr>
            <a:spLocks noGrp="1"/>
          </p:cNvSpPr>
          <p:nvPr>
            <p:ph idx="1" hasCustomPrompt="1"/>
          </p:nvPr>
        </p:nvSpPr>
        <p:spPr>
          <a:xfrm>
            <a:off x="6222118" y="4058263"/>
            <a:ext cx="5507421" cy="2141482"/>
          </a:xfrm>
        </p:spPr>
        <p:txBody>
          <a:bodyPr>
            <a:normAutofit/>
          </a:bodyPr>
          <a:lstStyle>
            <a:lvl1pPr marL="0" indent="0">
              <a:lnSpc>
                <a:spcPct val="90000"/>
              </a:lnSpc>
              <a:buFont typeface="Arial" panose="020B0604020202020204" pitchFamily="34" charset="0"/>
              <a:buNone/>
              <a:defRPr sz="2400"/>
            </a:lvl1pPr>
            <a:lvl2pPr marL="228600">
              <a:lnSpc>
                <a:spcPct val="90000"/>
              </a:lnSpc>
              <a:buClr>
                <a:schemeClr val="accent2"/>
              </a:buClr>
              <a:defRPr sz="2000"/>
            </a:lvl2pPr>
            <a:lvl3pPr marL="457200">
              <a:lnSpc>
                <a:spcPct val="90000"/>
              </a:lnSpc>
              <a:buClr>
                <a:schemeClr val="accent2"/>
              </a:buClr>
              <a:defRPr sz="1800"/>
            </a:lvl3pPr>
            <a:lvl4pPr marL="685800">
              <a:lnSpc>
                <a:spcPct val="90000"/>
              </a:lnSpc>
              <a:buClr>
                <a:schemeClr val="accent2"/>
              </a:buClr>
              <a:defRPr sz="1600"/>
            </a:lvl4pPr>
            <a:lvl5pPr>
              <a:lnSpc>
                <a:spcPct val="110000"/>
              </a:lnSpc>
              <a:defRPr/>
            </a:lvl5pPr>
          </a:lstStyle>
          <a:p>
            <a:pPr lvl="0"/>
            <a:r>
              <a:rPr lang="en-US"/>
              <a:t>Click to add content</a:t>
            </a:r>
          </a:p>
          <a:p>
            <a:pPr lvl="1"/>
            <a:r>
              <a:rPr lang="en-US"/>
              <a:t>Second level</a:t>
            </a:r>
          </a:p>
          <a:p>
            <a:pPr lvl="2"/>
            <a:r>
              <a:rPr lang="en-US"/>
              <a:t>Third level</a:t>
            </a:r>
          </a:p>
          <a:p>
            <a:pPr lvl="3"/>
            <a:r>
              <a:rPr lang="en-US"/>
              <a:t>Fourth level</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a:solidFill>
                  <a:prstClr val="black">
                    <a:tint val="75000"/>
                  </a:prstClr>
                </a:solidFill>
              </a:rPr>
              <a:t>Pitch deck</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17468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anchor="ctr" anchorCtr="0">
            <a:noAutofit/>
          </a:bodyPr>
          <a:lstStyle/>
          <a:p>
            <a:r>
              <a:rPr lang="en-US"/>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a:normAutofit/>
          </a:bodyPr>
          <a:lstStyle>
            <a:lvl1pPr>
              <a:lnSpc>
                <a:spcPct val="90000"/>
              </a:lnSpc>
              <a:spcBef>
                <a:spcPts val="1000"/>
              </a:spcBef>
              <a:spcAft>
                <a:spcPts val="800"/>
              </a:spcAft>
              <a:buClr>
                <a:schemeClr val="accent2"/>
              </a:buClr>
              <a:defRPr sz="1800"/>
            </a:lvl1pPr>
            <a:lvl2pPr>
              <a:lnSpc>
                <a:spcPct val="90000"/>
              </a:lnSpc>
              <a:spcBef>
                <a:spcPts val="1000"/>
              </a:spcBef>
              <a:spcAft>
                <a:spcPts val="800"/>
              </a:spcAft>
              <a:buClr>
                <a:schemeClr val="accent2"/>
              </a:buClr>
              <a:defRPr sz="1600"/>
            </a:lvl2pPr>
            <a:lvl3pPr>
              <a:lnSpc>
                <a:spcPct val="90000"/>
              </a:lnSpc>
              <a:spcBef>
                <a:spcPts val="1000"/>
              </a:spcBef>
              <a:spcAft>
                <a:spcPts val="800"/>
              </a:spcAft>
              <a:buClr>
                <a:schemeClr val="accent2"/>
              </a:buClr>
              <a:defRPr sz="1400"/>
            </a:lvl3pPr>
            <a:lvl4pPr>
              <a:lnSpc>
                <a:spcPct val="90000"/>
              </a:lnSpc>
              <a:spcBef>
                <a:spcPts val="1000"/>
              </a:spcBef>
              <a:spcAft>
                <a:spcPts val="800"/>
              </a:spcAft>
              <a:buClr>
                <a:schemeClr val="accent2"/>
              </a:buClr>
              <a:defRPr sz="1200"/>
            </a:lvl4pPr>
            <a:lvl5pPr>
              <a:lnSpc>
                <a:spcPct val="90000"/>
              </a:lnSpc>
              <a:spcBef>
                <a:spcPts val="1000"/>
              </a:spcBef>
              <a:spcAft>
                <a:spcPts val="800"/>
              </a:spcAft>
              <a:buClr>
                <a:schemeClr val="accent2"/>
              </a:buCl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577652" y="0"/>
            <a:ext cx="8798419" cy="6816262"/>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anchor="ctr">
            <a:noAutofit/>
          </a:bodyPr>
          <a:lstStyle>
            <a:lvl1pPr algn="ct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56372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123536" y="2"/>
            <a:ext cx="12068464" cy="6857998"/>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a:normAutofit/>
          </a:bodyPr>
          <a:lstStyle>
            <a:lvl1pPr marL="228600" indent="-228600">
              <a:spcBef>
                <a:spcPts val="1000"/>
              </a:spcBef>
              <a:spcAft>
                <a:spcPts val="800"/>
              </a:spcAft>
              <a:buClr>
                <a:schemeClr val="accent2"/>
              </a:buClr>
              <a:buFont typeface="Arial" panose="020B0604020202020204" pitchFamily="34" charset="0"/>
              <a:buChar char="•"/>
              <a:defRPr sz="1800"/>
            </a:lvl1pPr>
            <a:lvl2pPr marL="285750" indent="-285750">
              <a:spcBef>
                <a:spcPts val="1000"/>
              </a:spcBef>
              <a:spcAft>
                <a:spcPts val="800"/>
              </a:spcAft>
              <a:buClr>
                <a:schemeClr val="accent2"/>
              </a:buClr>
              <a:buFont typeface="Arial" panose="020B0604020202020204" pitchFamily="34" charset="0"/>
              <a:buChar char="•"/>
              <a:defRPr sz="1800"/>
            </a:lvl2pPr>
            <a:lvl3pPr marL="651510" indent="-285750">
              <a:spcBef>
                <a:spcPts val="1000"/>
              </a:spcBef>
              <a:spcAft>
                <a:spcPts val="800"/>
              </a:spcAft>
              <a:buClr>
                <a:schemeClr val="accent2"/>
              </a:buClr>
              <a:buFont typeface="Arial" panose="020B0604020202020204" pitchFamily="34" charset="0"/>
              <a:buChar char="•"/>
              <a:defRPr sz="1800"/>
            </a:lvl3pPr>
            <a:lvl4pPr marL="925830" indent="-285750">
              <a:spcBef>
                <a:spcPts val="1000"/>
              </a:spcBef>
              <a:spcAft>
                <a:spcPts val="800"/>
              </a:spcAft>
              <a:buClr>
                <a:schemeClr val="accent2"/>
              </a:buClr>
              <a:buFont typeface="Arial" panose="020B0604020202020204" pitchFamily="34" charset="0"/>
              <a:buChar char="•"/>
              <a:defRPr sz="1800"/>
            </a:lvl4pPr>
            <a:lvl5pPr marL="1200150" indent="-285750">
              <a:spcBef>
                <a:spcPts val="1000"/>
              </a:spcBef>
              <a:spcAft>
                <a:spcPts val="800"/>
              </a:spcAft>
              <a:buClr>
                <a:schemeClr val="accent2"/>
              </a:buClr>
              <a:buFont typeface="Arial" panose="020B0604020202020204" pitchFamily="34" charset="0"/>
              <a:buChar char="•"/>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a:normAutofit/>
          </a:bodyPr>
          <a:lstStyle>
            <a:lvl1pPr marL="0" indent="0">
              <a:spcBef>
                <a:spcPts val="1000"/>
              </a:spcBef>
              <a:spcAft>
                <a:spcPts val="800"/>
              </a:spcAft>
              <a:buNone/>
              <a:defRPr sz="1800"/>
            </a:lvl1pPr>
            <a:lvl2pPr marL="228600" indent="-228600">
              <a:spcBef>
                <a:spcPts val="1000"/>
              </a:spcBef>
              <a:spcAft>
                <a:spcPts val="800"/>
              </a:spcAft>
              <a:buClr>
                <a:schemeClr val="accent2"/>
              </a:buClr>
              <a:buFont typeface="Arial" panose="020B0604020202020204" pitchFamily="34" charset="0"/>
              <a:buChar char="•"/>
              <a:defRPr sz="1800"/>
            </a:lvl2pPr>
            <a:lvl3pPr marL="594360" indent="-228600">
              <a:spcBef>
                <a:spcPts val="1000"/>
              </a:spcBef>
              <a:spcAft>
                <a:spcPts val="800"/>
              </a:spcAft>
              <a:buClr>
                <a:schemeClr val="accent2"/>
              </a:buClr>
              <a:buFont typeface="Arial" panose="020B0604020202020204" pitchFamily="34" charset="0"/>
              <a:buChar char="•"/>
              <a:defRPr sz="1800"/>
            </a:lvl3pPr>
            <a:lvl4pPr marL="868680" indent="-228600">
              <a:spcBef>
                <a:spcPts val="1000"/>
              </a:spcBef>
              <a:spcAft>
                <a:spcPts val="800"/>
              </a:spcAft>
              <a:buClr>
                <a:schemeClr val="accent2"/>
              </a:buClr>
              <a:buFont typeface="Arial" panose="020B0604020202020204" pitchFamily="34" charset="0"/>
              <a:buChar char="•"/>
              <a:defRPr sz="1800"/>
            </a:lvl4pPr>
            <a:lvl5pPr marL="1143000" indent="-228600">
              <a:spcBef>
                <a:spcPts val="1000"/>
              </a:spcBef>
              <a:spcAft>
                <a:spcPts val="800"/>
              </a:spcAft>
              <a:buClr>
                <a:schemeClr val="accent2"/>
              </a:buClr>
              <a:buFont typeface="Arial" panose="020B0604020202020204" pitchFamily="34" charset="0"/>
              <a:buChar char="•"/>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7458"/>
            <a:ext cx="7083733" cy="618220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anchor="b" anchorCtr="0">
            <a:noAutofit/>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413114" y="845068"/>
            <a:ext cx="5193792" cy="5193792"/>
          </a:xfrm>
          <a:prstGeom prst="ellipse">
            <a:avLst/>
          </a:prstGeom>
        </p:spPr>
        <p:txBody>
          <a:bodyPr/>
          <a:lstStyle>
            <a:lvl1pPr marL="0" indent="0" algn="ctr">
              <a:buNone/>
              <a:defRPr/>
            </a:lvl1pPr>
          </a:lstStyle>
          <a:p>
            <a:r>
              <a:rPr lang="en-US"/>
              <a:t>Click icon to add picture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45438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123536" y="2"/>
            <a:ext cx="11220225" cy="6857998"/>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038599" y="1825625"/>
            <a:ext cx="7315199" cy="4297680"/>
          </a:xfrm>
        </p:spPr>
        <p:txBody>
          <a:bodyPr>
            <a:normAutofit/>
          </a:bodyPr>
          <a:lstStyle>
            <a:lvl1pPr marL="0" indent="0">
              <a:buNone/>
              <a:defRPr sz="2400"/>
            </a:lvl1pPr>
          </a:lstStyle>
          <a:p>
            <a:r>
              <a:rPr lang="en-US"/>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sz="1800"/>
            </a:lvl1pPr>
            <a:lvl2pPr>
              <a:spcBef>
                <a:spcPts val="500"/>
              </a:spcBef>
              <a:spcAft>
                <a:spcPts val="800"/>
              </a:spcAft>
              <a:buClr>
                <a:schemeClr val="accent2"/>
              </a:buClr>
              <a:defRPr sz="1800"/>
            </a:lvl2pPr>
            <a:lvl3pPr>
              <a:spcBef>
                <a:spcPts val="1000"/>
              </a:spcBef>
              <a:buClr>
                <a:schemeClr val="accent2"/>
              </a:buClr>
              <a:defRPr sz="1800"/>
            </a:lvl3pPr>
            <a:lvl4pPr>
              <a:spcBef>
                <a:spcPts val="1000"/>
              </a:spcBef>
              <a:buClr>
                <a:schemeClr val="accent2"/>
              </a:buClr>
              <a:defRPr sz="1800"/>
            </a:lvl4pPr>
            <a:lvl5pPr>
              <a:spcBef>
                <a:spcPts val="1000"/>
              </a:spcBef>
              <a:buClr>
                <a:schemeClr val="accent2"/>
              </a:buClr>
              <a:defRPr sz="18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endParaRPr lang="en-US" sz="180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a:normAutofit/>
          </a:bodyPr>
          <a:lstStyle>
            <a:lvl1pPr>
              <a:defRPr sz="2400"/>
            </a:lvl1pPr>
          </a:lstStyle>
          <a:p>
            <a:r>
              <a:rPr lang="en-US"/>
              <a:t>Click icon to add table</a:t>
            </a:r>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5930138" cy="68580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a:noAutofit/>
          </a:bodyPr>
          <a:lstStyle>
            <a:lvl1pPr algn="ctr">
              <a:defRPr sz="44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4/30/24</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4/30/24</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67" r:id="rId4"/>
    <p:sldLayoutId id="2147483650" r:id="rId5"/>
    <p:sldLayoutId id="2147483649" r:id="rId6"/>
    <p:sldLayoutId id="2147483662" r:id="rId7"/>
    <p:sldLayoutId id="2147483663" r:id="rId8"/>
    <p:sldLayoutId id="2147483652" r:id="rId9"/>
    <p:sldLayoutId id="2147483666" r:id="rId10"/>
    <p:sldLayoutId id="2147483664" r:id="rId11"/>
    <p:sldLayoutId id="2147483665"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0.png"/><Relationship Id="rId1" Type="http://schemas.openxmlformats.org/officeDocument/2006/relationships/slideLayout" Target="../slideLayouts/slideLayout10.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5946474" y="2881221"/>
            <a:ext cx="5906219" cy="1846054"/>
          </a:xfrm>
          <a:noFill/>
        </p:spPr>
        <p:txBody>
          <a:bodyPr anchor="b">
            <a:noAutofit/>
          </a:bodyPr>
          <a:lstStyle/>
          <a:p>
            <a:pPr algn="l"/>
            <a:r>
              <a:rPr lang="en-US"/>
              <a:t>MARKETING WEB ANALYTICS &amp; INSIGHTS PROJECT</a:t>
            </a:r>
          </a:p>
        </p:txBody>
      </p:sp>
      <p:sp>
        <p:nvSpPr>
          <p:cNvPr id="3" name="TextBox 2">
            <a:extLst>
              <a:ext uri="{FF2B5EF4-FFF2-40B4-BE49-F238E27FC236}">
                <a16:creationId xmlns:a16="http://schemas.microsoft.com/office/drawing/2014/main" id="{CFFBEE31-B06A-E02D-7B58-34F8F3EA4B33}"/>
              </a:ext>
            </a:extLst>
          </p:cNvPr>
          <p:cNvSpPr txBox="1"/>
          <p:nvPr/>
        </p:nvSpPr>
        <p:spPr>
          <a:xfrm>
            <a:off x="6003985" y="5028565"/>
            <a:ext cx="5221856" cy="1015663"/>
          </a:xfrm>
          <a:prstGeom prst="rect">
            <a:avLst/>
          </a:prstGeom>
          <a:noFill/>
        </p:spPr>
        <p:txBody>
          <a:bodyPr wrap="square" lIns="91440" tIns="45720" rIns="91440" bIns="45720" anchor="t">
            <a:spAutoFit/>
          </a:bodyPr>
          <a:lstStyle/>
          <a:p>
            <a:r>
              <a:rPr lang="en-US" sz="2000" b="1"/>
              <a:t>GROUP 4: Nimisha Reddy </a:t>
            </a:r>
            <a:r>
              <a:rPr lang="en-US" sz="2000" b="1" err="1"/>
              <a:t>Pocharam</a:t>
            </a:r>
            <a:r>
              <a:rPr lang="en-US" sz="2000" b="1"/>
              <a:t>, Raveen Dham, Urvi Zope, Ankita Shinde, Hitarth Patel, </a:t>
            </a:r>
            <a:r>
              <a:rPr lang="en-US" sz="2000" b="1">
                <a:ea typeface="+mn-lt"/>
                <a:cs typeface="+mn-lt"/>
              </a:rPr>
              <a:t>Samved </a:t>
            </a:r>
            <a:r>
              <a:rPr lang="en-US" sz="2000" b="1" err="1">
                <a:ea typeface="+mn-lt"/>
                <a:cs typeface="+mn-lt"/>
              </a:rPr>
              <a:t>Sangle</a:t>
            </a:r>
            <a:endParaRPr lang="en-US" sz="2000" b="1" err="1"/>
          </a:p>
        </p:txBody>
      </p:sp>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09957" y="1119031"/>
            <a:ext cx="4384736" cy="4619938"/>
          </a:xfrm>
          <a:noFill/>
        </p:spPr>
        <p:txBody>
          <a:bodyPr>
            <a:noAutofit/>
          </a:bodyPr>
          <a:lstStyle/>
          <a:p>
            <a:r>
              <a:rPr lang="en-US"/>
              <a:t>Company Overview</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473905" y="862639"/>
            <a:ext cx="5533401" cy="5656053"/>
          </a:xfrm>
          <a:noFill/>
        </p:spPr>
        <p:txBody>
          <a:bodyPr>
            <a:normAutofit/>
          </a:bodyPr>
          <a:lstStyle/>
          <a:p>
            <a:pPr marL="342900" indent="-342900">
              <a:buFont typeface="Arial" panose="020B0604020202020204" pitchFamily="34" charset="0"/>
              <a:buChar char="•"/>
            </a:pPr>
            <a:r>
              <a:rPr lang="en-US" sz="2000"/>
              <a:t>Established in 2005 in Brooklyn, NY; a global online marketplace for unique and creative goods.</a:t>
            </a:r>
          </a:p>
          <a:p>
            <a:pPr marL="342900" indent="-342900">
              <a:buFont typeface="Arial" panose="020B0604020202020204" pitchFamily="34" charset="0"/>
              <a:buChar char="•"/>
            </a:pPr>
            <a:r>
              <a:rPr lang="en-US" sz="2000"/>
              <a:t>Connects millions to make, sell, buy, and collect unique items, with a focus on personal and human commerce.</a:t>
            </a:r>
          </a:p>
          <a:p>
            <a:pPr marL="342900" indent="-342900">
              <a:buFont typeface="Arial" panose="020B0604020202020204" pitchFamily="34" charset="0"/>
              <a:buChar char="•"/>
            </a:pPr>
            <a:r>
              <a:rPr lang="en-US" sz="2000"/>
              <a:t>Driven by a mission to reimagine commerce in ways that build a more fulfilling and lasting world, targeting zero emissions by 2030.</a:t>
            </a:r>
          </a:p>
          <a:p>
            <a:pPr marL="342900" indent="-342900">
              <a:buFont typeface="Arial" panose="020B0604020202020204" pitchFamily="34" charset="0"/>
              <a:buChar char="•"/>
            </a:pPr>
            <a:r>
              <a:rPr lang="en-US" sz="2000"/>
              <a:t>Hosts over 92 million active buyers and 7 million active sellers, supporting small businesses and independent creators.</a:t>
            </a:r>
          </a:p>
        </p:txBody>
      </p:sp>
    </p:spTree>
    <p:extLst>
      <p:ext uri="{BB962C8B-B14F-4D97-AF65-F5344CB8AC3E}">
        <p14:creationId xmlns:p14="http://schemas.microsoft.com/office/powerpoint/2010/main" val="392072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513E45-4F5C-9394-1D42-7FB6C0170D83}"/>
              </a:ext>
            </a:extLst>
          </p:cNvPr>
          <p:cNvSpPr>
            <a:spLocks noGrp="1"/>
          </p:cNvSpPr>
          <p:nvPr>
            <p:ph type="title"/>
          </p:nvPr>
        </p:nvSpPr>
        <p:spPr>
          <a:xfrm>
            <a:off x="950099" y="1032295"/>
            <a:ext cx="6112060" cy="914400"/>
          </a:xfrm>
        </p:spPr>
        <p:txBody>
          <a:bodyPr anchor="b">
            <a:normAutofit/>
          </a:bodyPr>
          <a:lstStyle/>
          <a:p>
            <a:r>
              <a:rPr lang="en-US"/>
              <a:t>Business Objectives</a:t>
            </a:r>
          </a:p>
        </p:txBody>
      </p:sp>
      <p:sp>
        <p:nvSpPr>
          <p:cNvPr id="5" name="Content Placeholder 4">
            <a:extLst>
              <a:ext uri="{FF2B5EF4-FFF2-40B4-BE49-F238E27FC236}">
                <a16:creationId xmlns:a16="http://schemas.microsoft.com/office/drawing/2014/main" id="{55C37F52-5C08-7C02-C9CA-E2AD930A95FB}"/>
              </a:ext>
            </a:extLst>
          </p:cNvPr>
          <p:cNvSpPr>
            <a:spLocks noGrp="1"/>
          </p:cNvSpPr>
          <p:nvPr>
            <p:ph idx="1"/>
          </p:nvPr>
        </p:nvSpPr>
        <p:spPr>
          <a:xfrm>
            <a:off x="518777" y="2070338"/>
            <a:ext cx="11315471" cy="3755367"/>
          </a:xfrm>
        </p:spPr>
        <p:txBody>
          <a:bodyPr>
            <a:normAutofit fontScale="77500" lnSpcReduction="20000"/>
          </a:bodyPr>
          <a:lstStyle/>
          <a:p>
            <a:endParaRPr lang="en-US"/>
          </a:p>
          <a:p>
            <a:pPr marL="571500" indent="-571500">
              <a:buFont typeface="Arial" panose="020B0604020202020204" pitchFamily="34" charset="0"/>
              <a:buChar char="•"/>
            </a:pPr>
            <a:r>
              <a:rPr lang="en-US" sz="3800"/>
              <a:t>To amplify market presence and user acquisition by executing targeted marketing initiatives aimed at increasing the count of active buyers and sellers, serving as a direct measure of market share growth.</a:t>
            </a:r>
          </a:p>
          <a:p>
            <a:pPr marL="571500" indent="-571500">
              <a:buFont typeface="Arial" panose="020B0604020202020204" pitchFamily="34" charset="0"/>
              <a:buChar char="•"/>
            </a:pPr>
            <a:endParaRPr lang="en-US" sz="3800"/>
          </a:p>
          <a:p>
            <a:pPr marL="571500" indent="-571500">
              <a:buFont typeface="Arial" panose="020B0604020202020204" pitchFamily="34" charset="0"/>
              <a:buChar char="•"/>
            </a:pPr>
            <a:r>
              <a:rPr lang="en-US" sz="3800"/>
              <a:t>To elevate conversion rates and nurture customer loyalty, deploying enhanced site features and personalized experiences aimed at lifting key metrics such as conversion rate, customer lifetime value, and repeat purchase frequency.</a:t>
            </a:r>
          </a:p>
          <a:p>
            <a:pPr marL="571500" indent="-571500">
              <a:buFont typeface="Arial" panose="020B0604020202020204" pitchFamily="34" charset="0"/>
              <a:buChar char="•"/>
            </a:pPr>
            <a:endParaRPr lang="en-US" sz="3800"/>
          </a:p>
          <a:p>
            <a:pPr marL="571500" indent="-571500">
              <a:buFont typeface="Arial" panose="020B0604020202020204" pitchFamily="34" charset="0"/>
              <a:buChar char="•"/>
            </a:pPr>
            <a:endParaRPr lang="en-US" sz="3800"/>
          </a:p>
        </p:txBody>
      </p:sp>
    </p:spTree>
    <p:extLst>
      <p:ext uri="{BB962C8B-B14F-4D97-AF65-F5344CB8AC3E}">
        <p14:creationId xmlns:p14="http://schemas.microsoft.com/office/powerpoint/2010/main" val="329392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320615" y="48823"/>
            <a:ext cx="10515600" cy="1472974"/>
          </a:xfrm>
          <a:noFill/>
        </p:spPr>
        <p:txBody>
          <a:bodyPr anchor="ctr"/>
          <a:lstStyle/>
          <a:p>
            <a:r>
              <a:rPr lang="en-US"/>
              <a:t>Key Performance Indicators (KPIs) and Metrics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3"/>
          </p:nvPr>
        </p:nvSpPr>
        <p:spPr>
          <a:xfrm>
            <a:off x="918713" y="1521797"/>
            <a:ext cx="9691777" cy="4510943"/>
          </a:xfrm>
          <a:noFill/>
        </p:spPr>
        <p:txBody>
          <a:bodyPr vert="horz" lIns="91440" tIns="45720" rIns="91440" bIns="45720" rtlCol="0" anchor="t">
            <a:normAutofit/>
          </a:bodyPr>
          <a:lstStyle/>
          <a:p>
            <a:r>
              <a:rPr lang="en-US" b="1"/>
              <a:t>KPI 1: User Acquisition</a:t>
            </a:r>
            <a:endParaRPr lang="en-US"/>
          </a:p>
          <a:p>
            <a:pPr marL="0" indent="0">
              <a:buNone/>
            </a:pPr>
            <a:r>
              <a:rPr lang="en-US"/>
              <a:t>a. New Visitors Vs Returning Users</a:t>
            </a:r>
          </a:p>
          <a:p>
            <a:pPr marL="0" indent="0">
              <a:buNone/>
            </a:pPr>
            <a:r>
              <a:rPr lang="en-US"/>
              <a:t>b. Users by Channels and Session Duration</a:t>
            </a:r>
          </a:p>
          <a:p>
            <a:pPr marL="0" indent="0">
              <a:buNone/>
            </a:pPr>
            <a:r>
              <a:rPr lang="en-US"/>
              <a:t>c. Users and Transactions by Device Category</a:t>
            </a:r>
          </a:p>
          <a:p>
            <a:r>
              <a:rPr lang="en-US" b="1"/>
              <a:t>KPI 2: Shopping Behavior</a:t>
            </a:r>
          </a:p>
          <a:p>
            <a:pPr marL="0" indent="0">
              <a:buNone/>
            </a:pPr>
            <a:r>
              <a:rPr lang="en-US">
                <a:ea typeface="+mn-lt"/>
                <a:cs typeface="+mn-lt"/>
              </a:rPr>
              <a:t>a. Browser</a:t>
            </a:r>
          </a:p>
          <a:p>
            <a:pPr marL="0" indent="0">
              <a:buNone/>
            </a:pPr>
            <a:r>
              <a:rPr lang="en-US">
                <a:ea typeface="+mn-lt"/>
                <a:cs typeface="+mn-lt"/>
              </a:rPr>
              <a:t>b. Device</a:t>
            </a:r>
          </a:p>
          <a:p>
            <a:pPr marL="0" indent="0">
              <a:buNone/>
            </a:pPr>
            <a:r>
              <a:rPr lang="en-US">
                <a:ea typeface="+mn-lt"/>
                <a:cs typeface="+mn-lt"/>
              </a:rPr>
              <a:t>c. Source/ Medium</a:t>
            </a:r>
            <a:endParaRPr lang="en-US"/>
          </a:p>
          <a:p>
            <a:r>
              <a:rPr lang="en-US" b="1"/>
              <a:t>KPI 3: Revenue</a:t>
            </a:r>
          </a:p>
          <a:p>
            <a:endParaRPr lang="en-US"/>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596660" y="1299713"/>
            <a:ext cx="10515600" cy="265750"/>
          </a:xfrm>
        </p:spPr>
        <p:txBody>
          <a:bodyPr vert="horz" lIns="91440" tIns="45720" rIns="91440" bIns="45720" rtlCol="0" anchor="ctr" anchorCtr="0">
            <a:normAutofit fontScale="90000"/>
          </a:bodyPr>
          <a:lstStyle/>
          <a:p>
            <a:br>
              <a:rPr lang="en-US" sz="2000" kern="1200">
                <a:latin typeface="+mj-lt"/>
                <a:ea typeface="+mj-ea"/>
                <a:cs typeface="+mj-cs"/>
              </a:rPr>
            </a:br>
            <a:r>
              <a:rPr lang="en-US" sz="2000" kern="1200">
                <a:latin typeface="+mj-lt"/>
                <a:ea typeface="+mj-ea"/>
                <a:cs typeface="+mj-cs"/>
              </a:rPr>
              <a:t>New Visitors V/S Returning Visitors</a:t>
            </a:r>
          </a:p>
        </p:txBody>
      </p:sp>
      <p:pic>
        <p:nvPicPr>
          <p:cNvPr id="9" name="Picture 8">
            <a:extLst>
              <a:ext uri="{FF2B5EF4-FFF2-40B4-BE49-F238E27FC236}">
                <a16:creationId xmlns:a16="http://schemas.microsoft.com/office/drawing/2014/main" id="{2F15CFF2-880F-744C-91F2-B7D951FBB81D}"/>
              </a:ext>
            </a:extLst>
          </p:cNvPr>
          <p:cNvPicPr>
            <a:picLocks noChangeAspect="1"/>
          </p:cNvPicPr>
          <p:nvPr/>
        </p:nvPicPr>
        <p:blipFill>
          <a:blip r:embed="rId3"/>
          <a:stretch>
            <a:fillRect/>
          </a:stretch>
        </p:blipFill>
        <p:spPr>
          <a:xfrm>
            <a:off x="1078513" y="1825625"/>
            <a:ext cx="2628333" cy="4297680"/>
          </a:xfrm>
          <a:prstGeom prst="rect">
            <a:avLst/>
          </a:prstGeom>
          <a:noFill/>
        </p:spPr>
      </p:pic>
      <p:sp>
        <p:nvSpPr>
          <p:cNvPr id="15" name="TextBox 14">
            <a:extLst>
              <a:ext uri="{FF2B5EF4-FFF2-40B4-BE49-F238E27FC236}">
                <a16:creationId xmlns:a16="http://schemas.microsoft.com/office/drawing/2014/main" id="{3232123B-07E3-F222-0778-DCD0D05B9373}"/>
              </a:ext>
            </a:extLst>
          </p:cNvPr>
          <p:cNvSpPr txBox="1"/>
          <p:nvPr/>
        </p:nvSpPr>
        <p:spPr>
          <a:xfrm>
            <a:off x="4914862" y="1651671"/>
            <a:ext cx="6698156" cy="4297680"/>
          </a:xfrm>
          <a:prstGeom prst="rect">
            <a:avLst/>
          </a:prstGeom>
        </p:spPr>
        <p:txBody>
          <a:bodyPr vert="horz" lIns="91440" tIns="45720" rIns="91440" bIns="45720" rtlCol="0">
            <a:normAutofit/>
          </a:bodyPr>
          <a:lstStyle/>
          <a:p>
            <a:pPr>
              <a:lnSpc>
                <a:spcPct val="90000"/>
              </a:lnSpc>
              <a:spcBef>
                <a:spcPts val="1000"/>
              </a:spcBef>
              <a:spcAft>
                <a:spcPts val="800"/>
              </a:spcAft>
              <a:buFont typeface="Arial" panose="020B0604020202020204" pitchFamily="34" charset="0"/>
            </a:pPr>
            <a:r>
              <a:rPr lang="en-US"/>
              <a:t>There has been a 2% increase in returning visitors when comparing October 2021 to October 2022, indicating improved customer retention year over year.</a:t>
            </a:r>
          </a:p>
          <a:p>
            <a:pPr>
              <a:lnSpc>
                <a:spcPct val="90000"/>
              </a:lnSpc>
              <a:spcBef>
                <a:spcPts val="1000"/>
              </a:spcBef>
              <a:spcAft>
                <a:spcPts val="800"/>
              </a:spcAft>
              <a:buFont typeface="Arial" panose="020B0604020202020204" pitchFamily="34" charset="0"/>
            </a:pPr>
            <a:r>
              <a:rPr lang="en-US"/>
              <a:t>The number of new visitors has slightly decreased in terms of their share of total site traffic, with a decrease from 80.7% to 78.7%.</a:t>
            </a:r>
          </a:p>
          <a:p>
            <a:pPr>
              <a:lnSpc>
                <a:spcPct val="90000"/>
              </a:lnSpc>
              <a:spcBef>
                <a:spcPts val="1000"/>
              </a:spcBef>
              <a:spcAft>
                <a:spcPts val="800"/>
              </a:spcAft>
              <a:buFont typeface="Arial" panose="020B0604020202020204" pitchFamily="34" charset="0"/>
            </a:pPr>
            <a:r>
              <a:rPr lang="en-US"/>
              <a:t>Despite the change in percentages, the absolute number of new visitors has increased slightly from 53,817 to 54,547. This suggests that while the site is attracting more visitors overall, the rate of growth for new visitors may be slowing.</a:t>
            </a:r>
          </a:p>
          <a:p>
            <a:pPr>
              <a:lnSpc>
                <a:spcPct val="90000"/>
              </a:lnSpc>
              <a:spcBef>
                <a:spcPts val="1000"/>
              </a:spcBef>
              <a:spcAft>
                <a:spcPts val="800"/>
              </a:spcAft>
              <a:buFont typeface="Arial" panose="020B0604020202020204" pitchFamily="34" charset="0"/>
            </a:pPr>
            <a:r>
              <a:rPr lang="en-US"/>
              <a:t> The increase in returning visitors suggests that existing customers may have developed stronger loyalty to the brand or that post-purchase engagement strategies are effective.</a:t>
            </a:r>
          </a:p>
        </p:txBody>
      </p:sp>
      <p:sp>
        <p:nvSpPr>
          <p:cNvPr id="17" name="TextBox 16">
            <a:extLst>
              <a:ext uri="{FF2B5EF4-FFF2-40B4-BE49-F238E27FC236}">
                <a16:creationId xmlns:a16="http://schemas.microsoft.com/office/drawing/2014/main" id="{88775F7A-7A54-8841-43B4-38C1C2CB14DE}"/>
              </a:ext>
            </a:extLst>
          </p:cNvPr>
          <p:cNvSpPr txBox="1"/>
          <p:nvPr/>
        </p:nvSpPr>
        <p:spPr>
          <a:xfrm>
            <a:off x="365185" y="256567"/>
            <a:ext cx="6973019" cy="1200329"/>
          </a:xfrm>
          <a:prstGeom prst="rect">
            <a:avLst/>
          </a:prstGeom>
          <a:noFill/>
        </p:spPr>
        <p:txBody>
          <a:bodyPr wrap="square" lIns="91440" tIns="45720" rIns="91440" bIns="45720" anchor="t">
            <a:spAutoFit/>
          </a:bodyPr>
          <a:lstStyle/>
          <a:p>
            <a:r>
              <a:rPr lang="en-US" sz="3600" b="1"/>
              <a:t>KPI 1: User </a:t>
            </a:r>
            <a:r>
              <a:rPr lang="en-US" sz="3600" b="1" err="1"/>
              <a:t>Acqusition</a:t>
            </a:r>
            <a:r>
              <a:rPr lang="en-US" sz="3600" b="1"/>
              <a:t>-Analysis and Recommendations</a:t>
            </a:r>
          </a:p>
        </p:txBody>
      </p:sp>
    </p:spTree>
    <p:extLst>
      <p:ext uri="{BB962C8B-B14F-4D97-AF65-F5344CB8AC3E}">
        <p14:creationId xmlns:p14="http://schemas.microsoft.com/office/powerpoint/2010/main" val="729609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13913" y="359375"/>
            <a:ext cx="10515600" cy="871328"/>
          </a:xfrm>
          <a:noFill/>
        </p:spPr>
        <p:txBody>
          <a:bodyPr anchor="ctr"/>
          <a:lstStyle/>
          <a:p>
            <a:r>
              <a:rPr lang="en-US"/>
              <a:t>Users by Channels and Session Duration</a:t>
            </a:r>
          </a:p>
        </p:txBody>
      </p:sp>
      <p:pic>
        <p:nvPicPr>
          <p:cNvPr id="12" name="Picture 11">
            <a:extLst>
              <a:ext uri="{FF2B5EF4-FFF2-40B4-BE49-F238E27FC236}">
                <a16:creationId xmlns:a16="http://schemas.microsoft.com/office/drawing/2014/main" id="{7024305C-4ECF-8E71-24A9-FC9D7C1A0A53}"/>
              </a:ext>
            </a:extLst>
          </p:cNvPr>
          <p:cNvPicPr>
            <a:picLocks noChangeAspect="1"/>
          </p:cNvPicPr>
          <p:nvPr/>
        </p:nvPicPr>
        <p:blipFill>
          <a:blip r:embed="rId3"/>
          <a:stretch>
            <a:fillRect/>
          </a:stretch>
        </p:blipFill>
        <p:spPr>
          <a:xfrm>
            <a:off x="746760" y="1427970"/>
            <a:ext cx="10628605" cy="4248586"/>
          </a:xfrm>
          <a:prstGeom prst="rect">
            <a:avLst/>
          </a:prstGeom>
        </p:spPr>
      </p:pic>
    </p:spTree>
    <p:extLst>
      <p:ext uri="{BB962C8B-B14F-4D97-AF65-F5344CB8AC3E}">
        <p14:creationId xmlns:p14="http://schemas.microsoft.com/office/powerpoint/2010/main" val="1127649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723181" y="276047"/>
            <a:ext cx="10515600" cy="816634"/>
          </a:xfrm>
          <a:noFill/>
        </p:spPr>
        <p:txBody>
          <a:bodyPr anchor="ctr">
            <a:noAutofit/>
          </a:bodyPr>
          <a:lstStyle/>
          <a:p>
            <a:r>
              <a:rPr lang="en-US"/>
              <a:t>Observations</a:t>
            </a:r>
          </a:p>
        </p:txBody>
      </p:sp>
      <p:sp>
        <p:nvSpPr>
          <p:cNvPr id="10" name="TextBox 9">
            <a:extLst>
              <a:ext uri="{FF2B5EF4-FFF2-40B4-BE49-F238E27FC236}">
                <a16:creationId xmlns:a16="http://schemas.microsoft.com/office/drawing/2014/main" id="{799EA9CF-9566-31C1-B448-3630CA6D04BD}"/>
              </a:ext>
            </a:extLst>
          </p:cNvPr>
          <p:cNvSpPr txBox="1"/>
          <p:nvPr/>
        </p:nvSpPr>
        <p:spPr>
          <a:xfrm>
            <a:off x="855453" y="1334221"/>
            <a:ext cx="10675189" cy="4278094"/>
          </a:xfrm>
          <a:prstGeom prst="rect">
            <a:avLst/>
          </a:prstGeom>
          <a:noFill/>
        </p:spPr>
        <p:txBody>
          <a:bodyPr wrap="square">
            <a:spAutoFit/>
          </a:bodyPr>
          <a:lstStyle/>
          <a:p>
            <a:pPr marL="285750" indent="-285750">
              <a:buFont typeface="Arial" panose="020B0604020202020204" pitchFamily="34" charset="0"/>
              <a:buChar char="•"/>
            </a:pPr>
            <a:r>
              <a:rPr lang="en-US" sz="1600"/>
              <a:t>There's a marginal decrease in the number of users coming from direct searches in 2022 compared to 2021.</a:t>
            </a:r>
          </a:p>
          <a:p>
            <a:endParaRPr lang="en-US" sz="1600"/>
          </a:p>
          <a:p>
            <a:pPr marL="285750" indent="-285750">
              <a:buFont typeface="Arial" panose="020B0604020202020204" pitchFamily="34" charset="0"/>
              <a:buChar char="•"/>
            </a:pPr>
            <a:r>
              <a:rPr lang="en-US" sz="1600"/>
              <a:t>Users from direct search spent less time on the site in 2022 with a session duration percentage of 93.16% compared to 96.64% in 2021</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There was a significant increase in the number of users coming from Google's paid search (CPC) in 2022 compared to 2021.</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The session duration for users from Google/CPC more than doubled from 2.96% in 2021 to 6.50% in 2022, indicating higher engagement from paid search traffic this year.</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The decrease in session duration for direct traffic, despite a slight drop in user numbers, might suggest that users are finding what they need more quickly. This could be due to better site navigation or a change in user intent, possibly influenced by more targeted marketing or clearer branding.</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The reduction in direct traffic session duration could also imply that repeat customers are becoming more efficient in their shopping habits, indicating a maturing customer base that is familiar with the platform.</a:t>
            </a:r>
          </a:p>
        </p:txBody>
      </p:sp>
    </p:spTree>
    <p:extLst>
      <p:ext uri="{BB962C8B-B14F-4D97-AF65-F5344CB8AC3E}">
        <p14:creationId xmlns:p14="http://schemas.microsoft.com/office/powerpoint/2010/main" val="4259977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838200" y="365125"/>
            <a:ext cx="10515600" cy="1325563"/>
          </a:xfrm>
        </p:spPr>
        <p:txBody>
          <a:bodyPr vert="horz" lIns="91440" tIns="45720" rIns="91440" bIns="45720" rtlCol="0" anchor="ctr" anchorCtr="0">
            <a:normAutofit/>
          </a:bodyPr>
          <a:lstStyle/>
          <a:p>
            <a:r>
              <a:rPr lang="en-US" kern="1200">
                <a:latin typeface="+mj-lt"/>
                <a:ea typeface="+mj-ea"/>
                <a:cs typeface="+mj-cs"/>
              </a:rPr>
              <a:t>Users and Transactions by Device Category</a:t>
            </a:r>
          </a:p>
        </p:txBody>
      </p:sp>
      <p:sp>
        <p:nvSpPr>
          <p:cNvPr id="9" name="TextBox 8">
            <a:extLst>
              <a:ext uri="{FF2B5EF4-FFF2-40B4-BE49-F238E27FC236}">
                <a16:creationId xmlns:a16="http://schemas.microsoft.com/office/drawing/2014/main" id="{542A97D9-E88E-E8BC-7D5B-B4064176C699}"/>
              </a:ext>
            </a:extLst>
          </p:cNvPr>
          <p:cNvSpPr txBox="1"/>
          <p:nvPr/>
        </p:nvSpPr>
        <p:spPr>
          <a:xfrm>
            <a:off x="489857" y="1825625"/>
            <a:ext cx="5519057" cy="4297680"/>
          </a:xfrm>
          <a:prstGeom prst="rect">
            <a:avLst/>
          </a:prstGeom>
        </p:spPr>
        <p:txBody>
          <a:bodyPr vert="horz" lIns="91440" tIns="45720" rIns="91440" bIns="45720" rtlCol="0">
            <a:normAutofit/>
          </a:bodyPr>
          <a:lstStyle/>
          <a:p>
            <a:pPr marL="285750" indent="-285750">
              <a:lnSpc>
                <a:spcPct val="90000"/>
              </a:lnSpc>
              <a:spcBef>
                <a:spcPts val="1000"/>
              </a:spcBef>
              <a:spcAft>
                <a:spcPts val="800"/>
              </a:spcAft>
              <a:buFont typeface="Arial" panose="020B0604020202020204" pitchFamily="34" charset="0"/>
              <a:buChar char="•"/>
            </a:pPr>
            <a:r>
              <a:rPr lang="en-US"/>
              <a:t>The desktop remains the primary device for both users visiting the site and completing transactions, indicating that desktop optimization should remain a priority.</a:t>
            </a:r>
          </a:p>
          <a:p>
            <a:pPr marL="285750" indent="-285750">
              <a:lnSpc>
                <a:spcPct val="90000"/>
              </a:lnSpc>
              <a:spcBef>
                <a:spcPts val="1000"/>
              </a:spcBef>
              <a:spcAft>
                <a:spcPts val="800"/>
              </a:spcAft>
              <a:buFont typeface="Arial" panose="020B0604020202020204" pitchFamily="34" charset="0"/>
              <a:buChar char="•"/>
            </a:pPr>
            <a:r>
              <a:rPr lang="en-US"/>
              <a:t>While mobile users are fewer compared to desktop users, there is a presence of transactions from mobile devices, which highlights the importance of a mobile-friendly website.</a:t>
            </a:r>
          </a:p>
          <a:p>
            <a:pPr marL="285750" indent="-285750">
              <a:lnSpc>
                <a:spcPct val="90000"/>
              </a:lnSpc>
              <a:spcBef>
                <a:spcPts val="1000"/>
              </a:spcBef>
              <a:spcAft>
                <a:spcPts val="800"/>
              </a:spcAft>
              <a:buFont typeface="Arial" panose="020B0604020202020204" pitchFamily="34" charset="0"/>
              <a:buChar char="•"/>
            </a:pPr>
            <a:r>
              <a:rPr lang="en-US"/>
              <a:t>Tablet users represent the smallest group and have the least number of transactions, suggesting that this platform might be the lowest priority in terms of optimization.</a:t>
            </a:r>
          </a:p>
        </p:txBody>
      </p:sp>
      <p:pic>
        <p:nvPicPr>
          <p:cNvPr id="2052" name="Picture 4">
            <a:extLst>
              <a:ext uri="{FF2B5EF4-FFF2-40B4-BE49-F238E27FC236}">
                <a16:creationId xmlns:a16="http://schemas.microsoft.com/office/drawing/2014/main" id="{CE3ABB0A-BE22-BD00-8BC9-08CE1D0C478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08914" y="1825625"/>
            <a:ext cx="5651648" cy="3504021"/>
          </a:xfrm>
          <a:prstGeom prst="rect">
            <a:avLst/>
          </a:prstGeom>
          <a:solidFill>
            <a:srgbClr val="FFFFFF"/>
          </a:solidFill>
        </p:spPr>
      </p:pic>
    </p:spTree>
    <p:extLst>
      <p:ext uri="{BB962C8B-B14F-4D97-AF65-F5344CB8AC3E}">
        <p14:creationId xmlns:p14="http://schemas.microsoft.com/office/powerpoint/2010/main" val="3604630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1CE3E-66B6-1CBE-6A9F-F230F139BC78}"/>
              </a:ext>
            </a:extLst>
          </p:cNvPr>
          <p:cNvSpPr>
            <a:spLocks noGrp="1"/>
          </p:cNvSpPr>
          <p:nvPr>
            <p:ph type="title"/>
          </p:nvPr>
        </p:nvSpPr>
        <p:spPr>
          <a:xfrm>
            <a:off x="511629" y="319406"/>
            <a:ext cx="10515600" cy="836658"/>
          </a:xfrm>
        </p:spPr>
        <p:txBody>
          <a:bodyPr anchor="ctr">
            <a:normAutofit/>
          </a:bodyPr>
          <a:lstStyle/>
          <a:p>
            <a:r>
              <a:rPr lang="en-US"/>
              <a:t>Recommendations for User Acquisition</a:t>
            </a:r>
          </a:p>
        </p:txBody>
      </p:sp>
      <p:graphicFrame>
        <p:nvGraphicFramePr>
          <p:cNvPr id="5" name="Table Placeholder 2">
            <a:extLst>
              <a:ext uri="{FF2B5EF4-FFF2-40B4-BE49-F238E27FC236}">
                <a16:creationId xmlns:a16="http://schemas.microsoft.com/office/drawing/2014/main" id="{8267AB0E-8438-8628-248B-3240345368B0}"/>
              </a:ext>
            </a:extLst>
          </p:cNvPr>
          <p:cNvGraphicFramePr/>
          <p:nvPr>
            <p:extLst>
              <p:ext uri="{D42A27DB-BD31-4B8C-83A1-F6EECF244321}">
                <p14:modId xmlns:p14="http://schemas.microsoft.com/office/powerpoint/2010/main" val="1859234041"/>
              </p:ext>
            </p:extLst>
          </p:nvPr>
        </p:nvGraphicFramePr>
        <p:xfrm>
          <a:off x="380999" y="804543"/>
          <a:ext cx="11430001" cy="5380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4497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C7FB6-7224-8348-EFB7-268EFF3F2DC8}"/>
              </a:ext>
            </a:extLst>
          </p:cNvPr>
          <p:cNvSpPr>
            <a:spLocks noGrp="1"/>
          </p:cNvSpPr>
          <p:nvPr>
            <p:ph type="title"/>
          </p:nvPr>
        </p:nvSpPr>
        <p:spPr>
          <a:xfrm>
            <a:off x="572920" y="346522"/>
            <a:ext cx="11152517" cy="1325563"/>
          </a:xfrm>
        </p:spPr>
        <p:txBody>
          <a:bodyPr/>
          <a:lstStyle/>
          <a:p>
            <a:r>
              <a:rPr lang="en-US"/>
              <a:t>KPI 2:-Checkout Abandonment Rate by Browser</a:t>
            </a:r>
          </a:p>
        </p:txBody>
      </p:sp>
      <p:pic>
        <p:nvPicPr>
          <p:cNvPr id="13" name="Content Placeholder 12" descr="A purple pie chart with text&#10;&#10;Description automatically generated">
            <a:extLst>
              <a:ext uri="{FF2B5EF4-FFF2-40B4-BE49-F238E27FC236}">
                <a16:creationId xmlns:a16="http://schemas.microsoft.com/office/drawing/2014/main" id="{222660A0-898D-80A1-AFB4-E1E2F1574FFA}"/>
              </a:ext>
            </a:extLst>
          </p:cNvPr>
          <p:cNvPicPr>
            <a:picLocks noGrp="1" noChangeAspect="1"/>
          </p:cNvPicPr>
          <p:nvPr>
            <p:ph sz="half" idx="1"/>
          </p:nvPr>
        </p:nvPicPr>
        <p:blipFill rotWithShape="1">
          <a:blip r:embed="rId2"/>
          <a:srcRect l="2507" t="8845" r="7383" b="17263"/>
          <a:stretch/>
        </p:blipFill>
        <p:spPr>
          <a:xfrm>
            <a:off x="572920" y="1810514"/>
            <a:ext cx="4763172" cy="2904844"/>
          </a:xfrm>
        </p:spPr>
      </p:pic>
      <p:sp>
        <p:nvSpPr>
          <p:cNvPr id="4" name="Content Placeholder 3">
            <a:extLst>
              <a:ext uri="{FF2B5EF4-FFF2-40B4-BE49-F238E27FC236}">
                <a16:creationId xmlns:a16="http://schemas.microsoft.com/office/drawing/2014/main" id="{438E8838-DD52-207E-A69A-401F91C0A863}"/>
              </a:ext>
            </a:extLst>
          </p:cNvPr>
          <p:cNvSpPr>
            <a:spLocks noGrp="1"/>
          </p:cNvSpPr>
          <p:nvPr>
            <p:ph sz="half" idx="15"/>
          </p:nvPr>
        </p:nvSpPr>
        <p:spPr>
          <a:xfrm rot="-1740000">
            <a:off x="1124640" y="-1201386"/>
            <a:ext cx="6698156" cy="37976"/>
          </a:xfrm>
        </p:spPr>
        <p:txBody>
          <a:bodyPr vert="horz" lIns="91440" tIns="45720" rIns="91440" bIns="45720" rtlCol="0" anchor="t">
            <a:normAutofit fontScale="25000" lnSpcReduction="20000"/>
          </a:bodyPr>
          <a:lstStyle/>
          <a:p>
            <a:endParaRPr lang="en-US" sz="1200">
              <a:solidFill>
                <a:srgbClr val="ECECEC"/>
              </a:solidFill>
            </a:endParaRPr>
          </a:p>
        </p:txBody>
      </p:sp>
      <p:sp>
        <p:nvSpPr>
          <p:cNvPr id="6" name="TextBox 5">
            <a:extLst>
              <a:ext uri="{FF2B5EF4-FFF2-40B4-BE49-F238E27FC236}">
                <a16:creationId xmlns:a16="http://schemas.microsoft.com/office/drawing/2014/main" id="{D5AFBD57-3A18-C39B-474F-0E9B17F8B3C0}"/>
              </a:ext>
            </a:extLst>
          </p:cNvPr>
          <p:cNvSpPr txBox="1"/>
          <p:nvPr/>
        </p:nvSpPr>
        <p:spPr>
          <a:xfrm>
            <a:off x="572920" y="4990999"/>
            <a:ext cx="1078088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Our analysis reveals that Chrome users exhibit the highest rate of checkout abandonment, followed by those using Safari. Although the rate for Edge users is comparatively lower, there is still considerable opportunity for optimization in this area.</a:t>
            </a:r>
            <a:endParaRPr lang="en-US">
              <a:cs typeface="Segoe UI"/>
            </a:endParaRPr>
          </a:p>
          <a:p>
            <a:endParaRPr lang="en-US">
              <a:cs typeface="Segoe UI"/>
            </a:endParaRPr>
          </a:p>
          <a:p>
            <a:endParaRPr lang="en-US">
              <a:cs typeface="Segoe UI"/>
            </a:endParaRPr>
          </a:p>
        </p:txBody>
      </p:sp>
      <p:pic>
        <p:nvPicPr>
          <p:cNvPr id="15" name="Picture 14">
            <a:extLst>
              <a:ext uri="{FF2B5EF4-FFF2-40B4-BE49-F238E27FC236}">
                <a16:creationId xmlns:a16="http://schemas.microsoft.com/office/drawing/2014/main" id="{D3C74EDC-0602-21BC-F422-DBE0E1467352}"/>
              </a:ext>
            </a:extLst>
          </p:cNvPr>
          <p:cNvPicPr>
            <a:picLocks noChangeAspect="1"/>
          </p:cNvPicPr>
          <p:nvPr/>
        </p:nvPicPr>
        <p:blipFill rotWithShape="1">
          <a:blip r:embed="rId3"/>
          <a:srcRect l="941" t="7197" r="-807" b="15181"/>
          <a:stretch/>
        </p:blipFill>
        <p:spPr>
          <a:xfrm>
            <a:off x="6200614" y="1835033"/>
            <a:ext cx="5287621" cy="2879109"/>
          </a:xfrm>
          <a:prstGeom prst="rect">
            <a:avLst/>
          </a:prstGeom>
        </p:spPr>
      </p:pic>
    </p:spTree>
    <p:extLst>
      <p:ext uri="{BB962C8B-B14F-4D97-AF65-F5344CB8AC3E}">
        <p14:creationId xmlns:p14="http://schemas.microsoft.com/office/powerpoint/2010/main" val="3934672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screen&#10;&#10;Description automatically generated">
            <a:extLst>
              <a:ext uri="{FF2B5EF4-FFF2-40B4-BE49-F238E27FC236}">
                <a16:creationId xmlns:a16="http://schemas.microsoft.com/office/drawing/2014/main" id="{7270EFDA-75C9-3778-7BDA-F839868749BA}"/>
              </a:ext>
            </a:extLst>
          </p:cNvPr>
          <p:cNvPicPr>
            <a:picLocks noGrp="1" noChangeAspect="1"/>
          </p:cNvPicPr>
          <p:nvPr>
            <p:ph sz="half" idx="15"/>
          </p:nvPr>
        </p:nvPicPr>
        <p:blipFill>
          <a:blip r:embed="rId2"/>
          <a:stretch>
            <a:fillRect/>
          </a:stretch>
        </p:blipFill>
        <p:spPr>
          <a:xfrm>
            <a:off x="1060292" y="257366"/>
            <a:ext cx="8992357" cy="5641213"/>
          </a:xfrm>
        </p:spPr>
      </p:pic>
    </p:spTree>
    <p:extLst>
      <p:ext uri="{BB962C8B-B14F-4D97-AF65-F5344CB8AC3E}">
        <p14:creationId xmlns:p14="http://schemas.microsoft.com/office/powerpoint/2010/main" val="245425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39D2C-F776-EFE8-F506-53D5886C18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ECD852-1CA4-0C41-345D-B889D0FAB56D}"/>
              </a:ext>
            </a:extLst>
          </p:cNvPr>
          <p:cNvSpPr>
            <a:spLocks noGrp="1"/>
          </p:cNvSpPr>
          <p:nvPr>
            <p:ph sz="half" idx="1"/>
          </p:nvPr>
        </p:nvSpPr>
        <p:spPr/>
        <p:txBody>
          <a:bodyPr/>
          <a:lstStyle/>
          <a:p>
            <a:endParaRPr lang="en-US"/>
          </a:p>
        </p:txBody>
      </p:sp>
      <p:pic>
        <p:nvPicPr>
          <p:cNvPr id="5" name="Content Placeholder 4" descr="A screenshot of a graph&#10;&#10;Description automatically generated">
            <a:extLst>
              <a:ext uri="{FF2B5EF4-FFF2-40B4-BE49-F238E27FC236}">
                <a16:creationId xmlns:a16="http://schemas.microsoft.com/office/drawing/2014/main" id="{9BCE9A48-4D09-F8BB-C9CC-30C4D3BAB1C1}"/>
              </a:ext>
            </a:extLst>
          </p:cNvPr>
          <p:cNvPicPr>
            <a:picLocks noGrp="1" noChangeAspect="1"/>
          </p:cNvPicPr>
          <p:nvPr>
            <p:ph sz="half" idx="15"/>
          </p:nvPr>
        </p:nvPicPr>
        <p:blipFill>
          <a:blip r:embed="rId2"/>
          <a:stretch>
            <a:fillRect/>
          </a:stretch>
        </p:blipFill>
        <p:spPr>
          <a:xfrm>
            <a:off x="4057906" y="1913114"/>
            <a:ext cx="7875975" cy="4111676"/>
          </a:xfrm>
        </p:spPr>
      </p:pic>
    </p:spTree>
    <p:extLst>
      <p:ext uri="{BB962C8B-B14F-4D97-AF65-F5344CB8AC3E}">
        <p14:creationId xmlns:p14="http://schemas.microsoft.com/office/powerpoint/2010/main" val="3291197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3E96-AEE6-7B97-7B25-38ED6E4218DF}"/>
              </a:ext>
            </a:extLst>
          </p:cNvPr>
          <p:cNvSpPr>
            <a:spLocks noGrp="1"/>
          </p:cNvSpPr>
          <p:nvPr>
            <p:ph type="title"/>
          </p:nvPr>
        </p:nvSpPr>
        <p:spPr>
          <a:xfrm>
            <a:off x="838200" y="-254000"/>
            <a:ext cx="10515600" cy="1325563"/>
          </a:xfrm>
        </p:spPr>
        <p:txBody>
          <a:bodyPr/>
          <a:lstStyle/>
          <a:p>
            <a:r>
              <a:rPr lang="en-US"/>
              <a:t>Source/ Medium</a:t>
            </a:r>
          </a:p>
        </p:txBody>
      </p:sp>
      <p:pic>
        <p:nvPicPr>
          <p:cNvPr id="5" name="Content Placeholder 4" descr="A pink circles with numbers and a few pink circles&#10;&#10;Description automatically generated">
            <a:extLst>
              <a:ext uri="{FF2B5EF4-FFF2-40B4-BE49-F238E27FC236}">
                <a16:creationId xmlns:a16="http://schemas.microsoft.com/office/drawing/2014/main" id="{27C93B9D-2619-DCA5-41F8-EBC100C4AA9B}"/>
              </a:ext>
            </a:extLst>
          </p:cNvPr>
          <p:cNvPicPr>
            <a:picLocks noGrp="1" noChangeAspect="1"/>
          </p:cNvPicPr>
          <p:nvPr>
            <p:ph sz="half" idx="1"/>
          </p:nvPr>
        </p:nvPicPr>
        <p:blipFill>
          <a:blip r:embed="rId2"/>
          <a:stretch>
            <a:fillRect/>
          </a:stretch>
        </p:blipFill>
        <p:spPr>
          <a:xfrm>
            <a:off x="840106" y="1051878"/>
            <a:ext cx="7470774" cy="5519737"/>
          </a:xfrm>
        </p:spPr>
      </p:pic>
      <p:sp>
        <p:nvSpPr>
          <p:cNvPr id="4" name="Content Placeholder 3">
            <a:extLst>
              <a:ext uri="{FF2B5EF4-FFF2-40B4-BE49-F238E27FC236}">
                <a16:creationId xmlns:a16="http://schemas.microsoft.com/office/drawing/2014/main" id="{A3B90E8D-07D8-94C0-A8DE-63BA49713E78}"/>
              </a:ext>
            </a:extLst>
          </p:cNvPr>
          <p:cNvSpPr>
            <a:spLocks noGrp="1"/>
          </p:cNvSpPr>
          <p:nvPr>
            <p:ph sz="half" idx="15"/>
          </p:nvPr>
        </p:nvSpPr>
        <p:spPr>
          <a:xfrm>
            <a:off x="8630570" y="1824853"/>
            <a:ext cx="3531094" cy="3892868"/>
          </a:xfrm>
        </p:spPr>
        <p:txBody>
          <a:bodyPr vert="horz" lIns="91440" tIns="45720" rIns="91440" bIns="45720" rtlCol="0" anchor="t">
            <a:normAutofit/>
          </a:bodyPr>
          <a:lstStyle/>
          <a:p>
            <a:endParaRPr lang="en-US"/>
          </a:p>
          <a:p>
            <a:r>
              <a:rPr lang="en-US">
                <a:ea typeface="+mn-lt"/>
                <a:cs typeface="+mn-lt"/>
              </a:rPr>
              <a:t>The analysis suggests that the channels labeled "</a:t>
            </a:r>
            <a:r>
              <a:rPr lang="en-US" b="1">
                <a:ea typeface="+mn-lt"/>
                <a:cs typeface="+mn-lt"/>
              </a:rPr>
              <a:t>Direct or None</a:t>
            </a:r>
            <a:r>
              <a:rPr lang="en-US">
                <a:ea typeface="+mn-lt"/>
                <a:cs typeface="+mn-lt"/>
              </a:rPr>
              <a:t>" and "</a:t>
            </a:r>
            <a:r>
              <a:rPr lang="en-US" b="1">
                <a:ea typeface="+mn-lt"/>
                <a:cs typeface="+mn-lt"/>
              </a:rPr>
              <a:t>Google or CPC</a:t>
            </a:r>
            <a:r>
              <a:rPr lang="en-US">
                <a:ea typeface="+mn-lt"/>
                <a:cs typeface="+mn-lt"/>
              </a:rPr>
              <a:t>" experience elevated levels of checkout abandonment when compared to "</a:t>
            </a:r>
            <a:r>
              <a:rPr lang="en-US" b="1">
                <a:ea typeface="+mn-lt"/>
                <a:cs typeface="+mn-lt"/>
              </a:rPr>
              <a:t>Bing or CPC</a:t>
            </a:r>
            <a:r>
              <a:rPr lang="en-US">
                <a:ea typeface="+mn-lt"/>
                <a:cs typeface="+mn-lt"/>
              </a:rPr>
              <a:t>" and "</a:t>
            </a:r>
            <a:r>
              <a:rPr lang="en-US" b="1">
                <a:ea typeface="+mn-lt"/>
                <a:cs typeface="+mn-lt"/>
              </a:rPr>
              <a:t>Partners or Affiliate</a:t>
            </a:r>
            <a:r>
              <a:rPr lang="en-US">
                <a:ea typeface="+mn-lt"/>
                <a:cs typeface="+mn-lt"/>
              </a:rPr>
              <a:t>" sources.</a:t>
            </a:r>
            <a:endParaRPr lang="en-US"/>
          </a:p>
        </p:txBody>
      </p:sp>
    </p:spTree>
    <p:extLst>
      <p:ext uri="{BB962C8B-B14F-4D97-AF65-F5344CB8AC3E}">
        <p14:creationId xmlns:p14="http://schemas.microsoft.com/office/powerpoint/2010/main" val="1552851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37892156-2C1E-7C85-5C96-C8313F58933D}"/>
              </a:ext>
            </a:extLst>
          </p:cNvPr>
          <p:cNvPicPr>
            <a:picLocks noGrp="1" noChangeAspect="1"/>
          </p:cNvPicPr>
          <p:nvPr>
            <p:ph sz="half" idx="1"/>
          </p:nvPr>
        </p:nvPicPr>
        <p:blipFill>
          <a:blip r:embed="rId2"/>
          <a:stretch>
            <a:fillRect/>
          </a:stretch>
        </p:blipFill>
        <p:spPr>
          <a:xfrm>
            <a:off x="824159" y="488250"/>
            <a:ext cx="9136062" cy="5625783"/>
          </a:xfrm>
        </p:spPr>
      </p:pic>
    </p:spTree>
    <p:extLst>
      <p:ext uri="{BB962C8B-B14F-4D97-AF65-F5344CB8AC3E}">
        <p14:creationId xmlns:p14="http://schemas.microsoft.com/office/powerpoint/2010/main" val="1939532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A7806-63B4-747E-CE56-5B15E3C4B237}"/>
              </a:ext>
            </a:extLst>
          </p:cNvPr>
          <p:cNvSpPr>
            <a:spLocks noGrp="1"/>
          </p:cNvSpPr>
          <p:nvPr>
            <p:ph type="title"/>
          </p:nvPr>
        </p:nvSpPr>
        <p:spPr>
          <a:xfrm>
            <a:off x="5203825" y="-269875"/>
            <a:ext cx="1943100" cy="1325563"/>
          </a:xfrm>
        </p:spPr>
        <p:txBody>
          <a:bodyPr/>
          <a:lstStyle/>
          <a:p>
            <a:r>
              <a:rPr lang="en-US"/>
              <a:t>Device</a:t>
            </a:r>
          </a:p>
        </p:txBody>
      </p:sp>
      <p:pic>
        <p:nvPicPr>
          <p:cNvPr id="5" name="Content Placeholder 4">
            <a:extLst>
              <a:ext uri="{FF2B5EF4-FFF2-40B4-BE49-F238E27FC236}">
                <a16:creationId xmlns:a16="http://schemas.microsoft.com/office/drawing/2014/main" id="{3864E2BB-FA71-7BA4-D8FA-B2DEE989AAB4}"/>
              </a:ext>
            </a:extLst>
          </p:cNvPr>
          <p:cNvPicPr>
            <a:picLocks noGrp="1" noChangeAspect="1"/>
          </p:cNvPicPr>
          <p:nvPr>
            <p:ph sz="half" idx="1"/>
          </p:nvPr>
        </p:nvPicPr>
        <p:blipFill rotWithShape="1">
          <a:blip r:embed="rId2"/>
          <a:srcRect l="-3129" t="24324" r="-1031" b="16602"/>
          <a:stretch/>
        </p:blipFill>
        <p:spPr>
          <a:xfrm>
            <a:off x="456945" y="631190"/>
            <a:ext cx="5160940" cy="5142757"/>
          </a:xfrm>
        </p:spPr>
      </p:pic>
      <p:sp>
        <p:nvSpPr>
          <p:cNvPr id="4" name="Content Placeholder 3">
            <a:extLst>
              <a:ext uri="{FF2B5EF4-FFF2-40B4-BE49-F238E27FC236}">
                <a16:creationId xmlns:a16="http://schemas.microsoft.com/office/drawing/2014/main" id="{C9B94A51-57E7-02C7-284B-D4F142365434}"/>
              </a:ext>
            </a:extLst>
          </p:cNvPr>
          <p:cNvSpPr>
            <a:spLocks noGrp="1"/>
          </p:cNvSpPr>
          <p:nvPr>
            <p:ph sz="half" idx="15"/>
          </p:nvPr>
        </p:nvSpPr>
        <p:spPr>
          <a:xfrm>
            <a:off x="5979445" y="1237478"/>
            <a:ext cx="6198093" cy="5313680"/>
          </a:xfrm>
        </p:spPr>
        <p:txBody>
          <a:bodyPr vert="horz" lIns="91440" tIns="45720" rIns="91440" bIns="45720" rtlCol="0" anchor="t">
            <a:normAutofit/>
          </a:bodyPr>
          <a:lstStyle/>
          <a:p>
            <a:endParaRPr lang="en-US"/>
          </a:p>
          <a:p>
            <a:r>
              <a:rPr lang="en-US">
                <a:ea typeface="+mn-lt"/>
                <a:cs typeface="+mn-lt"/>
              </a:rPr>
              <a:t>Over the past two years, desktop users have consistently registered the highest number of checkouts. </a:t>
            </a:r>
          </a:p>
          <a:p>
            <a:r>
              <a:rPr lang="en-US">
                <a:ea typeface="+mn-lt"/>
                <a:cs typeface="+mn-lt"/>
              </a:rPr>
              <a:t>While mobile follows closely, its performance, though lower, highlights a need for targeted improvements to decrease the abandonment rate.</a:t>
            </a:r>
            <a:endParaRPr lang="en-US"/>
          </a:p>
        </p:txBody>
      </p:sp>
    </p:spTree>
    <p:extLst>
      <p:ext uri="{BB962C8B-B14F-4D97-AF65-F5344CB8AC3E}">
        <p14:creationId xmlns:p14="http://schemas.microsoft.com/office/powerpoint/2010/main" val="357787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graph&#10;&#10;Description automatically generated">
            <a:extLst>
              <a:ext uri="{FF2B5EF4-FFF2-40B4-BE49-F238E27FC236}">
                <a16:creationId xmlns:a16="http://schemas.microsoft.com/office/drawing/2014/main" id="{0AC4EB7F-B1FB-45C6-9AD9-60606C0728DE}"/>
              </a:ext>
            </a:extLst>
          </p:cNvPr>
          <p:cNvPicPr>
            <a:picLocks noGrp="1" noChangeAspect="1"/>
          </p:cNvPicPr>
          <p:nvPr>
            <p:ph sz="half" idx="1"/>
          </p:nvPr>
        </p:nvPicPr>
        <p:blipFill>
          <a:blip r:embed="rId2"/>
          <a:stretch>
            <a:fillRect/>
          </a:stretch>
        </p:blipFill>
        <p:spPr>
          <a:xfrm>
            <a:off x="1147764" y="616753"/>
            <a:ext cx="9903458" cy="5215236"/>
          </a:xfrm>
        </p:spPr>
      </p:pic>
    </p:spTree>
    <p:extLst>
      <p:ext uri="{BB962C8B-B14F-4D97-AF65-F5344CB8AC3E}">
        <p14:creationId xmlns:p14="http://schemas.microsoft.com/office/powerpoint/2010/main" val="741090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1FBB-B541-6D91-AAFB-50EDF245FA10}"/>
              </a:ext>
            </a:extLst>
          </p:cNvPr>
          <p:cNvSpPr>
            <a:spLocks noGrp="1"/>
          </p:cNvSpPr>
          <p:nvPr>
            <p:ph type="title"/>
          </p:nvPr>
        </p:nvSpPr>
        <p:spPr/>
        <p:txBody>
          <a:bodyPr/>
          <a:lstStyle/>
          <a:p>
            <a:r>
              <a:rPr lang="en-US"/>
              <a:t>Recommendations for Abandonment Rate</a:t>
            </a:r>
          </a:p>
        </p:txBody>
      </p:sp>
      <p:sp>
        <p:nvSpPr>
          <p:cNvPr id="3" name="Content Placeholder 2">
            <a:extLst>
              <a:ext uri="{FF2B5EF4-FFF2-40B4-BE49-F238E27FC236}">
                <a16:creationId xmlns:a16="http://schemas.microsoft.com/office/drawing/2014/main" id="{BD8B7D7C-087B-A847-4143-F95BE8AD87CA}"/>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F0FFE422-A366-5AB6-E446-ACBB7B2ACD68}"/>
              </a:ext>
            </a:extLst>
          </p:cNvPr>
          <p:cNvSpPr>
            <a:spLocks noGrp="1"/>
          </p:cNvSpPr>
          <p:nvPr>
            <p:ph sz="half" idx="15"/>
          </p:nvPr>
        </p:nvSpPr>
        <p:spPr/>
        <p:txBody>
          <a:bodyPr vert="horz" lIns="91440" tIns="45720" rIns="91440" bIns="45720" rtlCol="0" anchor="t">
            <a:normAutofit/>
          </a:bodyPr>
          <a:lstStyle/>
          <a:p>
            <a:r>
              <a:rPr lang="en-US">
                <a:ea typeface="+mn-lt"/>
                <a:cs typeface="+mn-lt"/>
              </a:rPr>
              <a:t>Based on the observations outlined above, we propose the following recommendations:</a:t>
            </a:r>
            <a:endParaRPr lang="en-US"/>
          </a:p>
          <a:p>
            <a:r>
              <a:rPr lang="en-US">
                <a:ea typeface="+mn-lt"/>
                <a:cs typeface="+mn-lt"/>
              </a:rPr>
              <a:t>1)Provide checkout options for guests.</a:t>
            </a:r>
          </a:p>
          <a:p>
            <a:r>
              <a:rPr lang="en-US">
                <a:ea typeface="+mn-lt"/>
                <a:cs typeface="+mn-lt"/>
              </a:rPr>
              <a:t>2)Introduce a variety of payment gateways.</a:t>
            </a:r>
          </a:p>
          <a:p>
            <a:r>
              <a:rPr lang="en-US">
                <a:ea typeface="+mn-lt"/>
                <a:cs typeface="+mn-lt"/>
              </a:rPr>
              <a:t>3)Display product thumbnails throughout the checkout process.</a:t>
            </a:r>
            <a:endParaRPr lang="en-US"/>
          </a:p>
          <a:p>
            <a:r>
              <a:rPr lang="en-US">
                <a:ea typeface="+mn-lt"/>
                <a:cs typeface="+mn-lt"/>
              </a:rPr>
              <a:t>4)Enhance page load speeds to improve user experience.</a:t>
            </a:r>
          </a:p>
          <a:p>
            <a:pPr marL="342900" indent="-342900">
              <a:buAutoNum type="arabicParenR"/>
            </a:pPr>
            <a:endParaRPr lang="en-US"/>
          </a:p>
        </p:txBody>
      </p:sp>
    </p:spTree>
    <p:extLst>
      <p:ext uri="{BB962C8B-B14F-4D97-AF65-F5344CB8AC3E}">
        <p14:creationId xmlns:p14="http://schemas.microsoft.com/office/powerpoint/2010/main" val="570393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577D-2FD1-E51F-7998-74C9DF172228}"/>
              </a:ext>
            </a:extLst>
          </p:cNvPr>
          <p:cNvSpPr>
            <a:spLocks noGrp="1"/>
          </p:cNvSpPr>
          <p:nvPr>
            <p:ph type="title"/>
          </p:nvPr>
        </p:nvSpPr>
        <p:spPr/>
        <p:txBody>
          <a:bodyPr/>
          <a:lstStyle/>
          <a:p>
            <a:r>
              <a:rPr lang="en-US" dirty="0"/>
              <a:t> Overall Product Performance</a:t>
            </a:r>
          </a:p>
        </p:txBody>
      </p:sp>
      <p:pic>
        <p:nvPicPr>
          <p:cNvPr id="5" name="Content Placeholder 4" descr="A graph with orange and blue lines&#10;&#10;Description automatically generated">
            <a:extLst>
              <a:ext uri="{FF2B5EF4-FFF2-40B4-BE49-F238E27FC236}">
                <a16:creationId xmlns:a16="http://schemas.microsoft.com/office/drawing/2014/main" id="{E137201A-4E50-49AD-CBE9-7A8419A2406A}"/>
              </a:ext>
            </a:extLst>
          </p:cNvPr>
          <p:cNvPicPr>
            <a:picLocks noGrp="1" noChangeAspect="1"/>
          </p:cNvPicPr>
          <p:nvPr>
            <p:ph sz="half" idx="1"/>
          </p:nvPr>
        </p:nvPicPr>
        <p:blipFill>
          <a:blip r:embed="rId2"/>
          <a:stretch>
            <a:fillRect/>
          </a:stretch>
        </p:blipFill>
        <p:spPr>
          <a:xfrm>
            <a:off x="838200" y="4601609"/>
            <a:ext cx="7345101" cy="1988187"/>
          </a:xfrm>
        </p:spPr>
      </p:pic>
      <p:graphicFrame>
        <p:nvGraphicFramePr>
          <p:cNvPr id="6" name="Chart 5">
            <a:extLst>
              <a:ext uri="{FF2B5EF4-FFF2-40B4-BE49-F238E27FC236}">
                <a16:creationId xmlns:a16="http://schemas.microsoft.com/office/drawing/2014/main" id="{A8B2FC77-EE40-BC6F-0F80-311A14792327}"/>
              </a:ext>
            </a:extLst>
          </p:cNvPr>
          <p:cNvGraphicFramePr/>
          <p:nvPr>
            <p:extLst>
              <p:ext uri="{D42A27DB-BD31-4B8C-83A1-F6EECF244321}">
                <p14:modId xmlns:p14="http://schemas.microsoft.com/office/powerpoint/2010/main" val="95298534"/>
              </p:ext>
            </p:extLst>
          </p:nvPr>
        </p:nvGraphicFramePr>
        <p:xfrm>
          <a:off x="198216" y="1663532"/>
          <a:ext cx="4312534" cy="281820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9E5E51E7-DE52-95E9-E457-A2C50AFC0DA3}"/>
              </a:ext>
            </a:extLst>
          </p:cNvPr>
          <p:cNvGraphicFramePr/>
          <p:nvPr>
            <p:extLst>
              <p:ext uri="{D42A27DB-BD31-4B8C-83A1-F6EECF244321}">
                <p14:modId xmlns:p14="http://schemas.microsoft.com/office/powerpoint/2010/main" val="4047629798"/>
              </p:ext>
            </p:extLst>
          </p:nvPr>
        </p:nvGraphicFramePr>
        <p:xfrm>
          <a:off x="3765632" y="912572"/>
          <a:ext cx="4498692" cy="3928936"/>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EE6026B6-C81F-E8EE-3B08-15EAB0586D1D}"/>
              </a:ext>
            </a:extLst>
          </p:cNvPr>
          <p:cNvSpPr txBox="1"/>
          <p:nvPr/>
        </p:nvSpPr>
        <p:spPr>
          <a:xfrm>
            <a:off x="8464050" y="1663532"/>
            <a:ext cx="3486393" cy="4708981"/>
          </a:xfrm>
          <a:prstGeom prst="rect">
            <a:avLst/>
          </a:prstGeom>
          <a:noFill/>
        </p:spPr>
        <p:txBody>
          <a:bodyPr wrap="square" rtlCol="0">
            <a:spAutoFit/>
          </a:bodyPr>
          <a:lstStyle/>
          <a:p>
            <a:pPr>
              <a:buFont typeface="Arial" panose="020B0604020202020204" pitchFamily="34" charset="0"/>
              <a:buChar char="•"/>
            </a:pPr>
            <a:r>
              <a:rPr lang="en-US" sz="2000" b="1" dirty="0">
                <a:solidFill>
                  <a:schemeClr val="tx1">
                    <a:lumMod val="50000"/>
                    <a:lumOff val="50000"/>
                  </a:schemeClr>
                </a:solidFill>
                <a:latin typeface="Times New Roman" panose="02020603050405020304" pitchFamily="18" charset="0"/>
                <a:cs typeface="Times New Roman" panose="02020603050405020304" pitchFamily="18" charset="0"/>
              </a:rPr>
              <a:t>Etsy has 5 product lines in which Craft Supplies , Jewelry comprise of 80% of the total product line where we wish to shift our focus.</a:t>
            </a:r>
          </a:p>
          <a:p>
            <a:endParaRPr lang="en-US" sz="2000" b="1" dirty="0">
              <a:solidFill>
                <a:schemeClr val="tx1">
                  <a:lumMod val="50000"/>
                  <a:lumOff val="50000"/>
                </a:schemeClr>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solidFill>
                  <a:schemeClr val="tx1">
                    <a:lumMod val="50000"/>
                    <a:lumOff val="50000"/>
                  </a:schemeClr>
                </a:solidFill>
                <a:latin typeface="Times New Roman" panose="02020603050405020304" pitchFamily="18" charset="0"/>
                <a:cs typeface="Times New Roman" panose="02020603050405020304" pitchFamily="18" charset="0"/>
              </a:rPr>
              <a:t>We also observe that the average price of the products has decreased by 25.09% from $19.35 to 14.50</a:t>
            </a:r>
          </a:p>
          <a:p>
            <a:pPr>
              <a:buFont typeface="Arial" panose="020B0604020202020204" pitchFamily="34" charset="0"/>
              <a:buChar char="•"/>
            </a:pPr>
            <a:endParaRPr lang="en-US" sz="2000" b="1" dirty="0">
              <a:solidFill>
                <a:schemeClr val="tx1">
                  <a:lumMod val="50000"/>
                  <a:lumOff val="50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solidFill>
                  <a:schemeClr val="tx1">
                    <a:lumMod val="50000"/>
                    <a:lumOff val="50000"/>
                  </a:schemeClr>
                </a:solidFill>
                <a:latin typeface="Times New Roman" panose="02020603050405020304" pitchFamily="18" charset="0"/>
                <a:cs typeface="Times New Roman" panose="02020603050405020304" pitchFamily="18" charset="0"/>
              </a:rPr>
              <a:t>We notice that the new year see the two pre-existing SKU has dominated the product shares.</a:t>
            </a:r>
          </a:p>
        </p:txBody>
      </p:sp>
      <p:sp>
        <p:nvSpPr>
          <p:cNvPr id="4" name="Rectangle 3">
            <a:extLst>
              <a:ext uri="{FF2B5EF4-FFF2-40B4-BE49-F238E27FC236}">
                <a16:creationId xmlns:a16="http://schemas.microsoft.com/office/drawing/2014/main" id="{CB6F9797-31BC-3FD1-7FDD-49FFBA60A575}"/>
              </a:ext>
            </a:extLst>
          </p:cNvPr>
          <p:cNvSpPr/>
          <p:nvPr/>
        </p:nvSpPr>
        <p:spPr>
          <a:xfrm>
            <a:off x="1018309" y="4240205"/>
            <a:ext cx="187036" cy="189374"/>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4FE1F7B-69B8-5050-F2F4-B30990600D9A}"/>
              </a:ext>
            </a:extLst>
          </p:cNvPr>
          <p:cNvSpPr txBox="1"/>
          <p:nvPr/>
        </p:nvSpPr>
        <p:spPr>
          <a:xfrm>
            <a:off x="1205346" y="4235512"/>
            <a:ext cx="1017464" cy="246221"/>
          </a:xfrm>
          <a:prstGeom prst="rect">
            <a:avLst/>
          </a:prstGeom>
          <a:noFill/>
        </p:spPr>
        <p:txBody>
          <a:bodyPr wrap="square" rtlCol="0">
            <a:spAutoFit/>
          </a:bodyPr>
          <a:lstStyle/>
          <a:p>
            <a:r>
              <a:rPr lang="en-US" sz="1000" b="1" dirty="0">
                <a:latin typeface="Times New Roman" panose="02020603050405020304" pitchFamily="18" charset="0"/>
                <a:cs typeface="Times New Roman" panose="02020603050405020304" pitchFamily="18" charset="0"/>
              </a:rPr>
              <a:t>Craft Supplies</a:t>
            </a:r>
          </a:p>
        </p:txBody>
      </p:sp>
      <p:sp>
        <p:nvSpPr>
          <p:cNvPr id="10" name="TextBox 9">
            <a:extLst>
              <a:ext uri="{FF2B5EF4-FFF2-40B4-BE49-F238E27FC236}">
                <a16:creationId xmlns:a16="http://schemas.microsoft.com/office/drawing/2014/main" id="{4DBF7DCD-79B8-CA13-6FC1-49B67F7CB1D9}"/>
              </a:ext>
            </a:extLst>
          </p:cNvPr>
          <p:cNvSpPr txBox="1"/>
          <p:nvPr/>
        </p:nvSpPr>
        <p:spPr>
          <a:xfrm>
            <a:off x="6506679" y="4235512"/>
            <a:ext cx="564358" cy="246221"/>
          </a:xfrm>
          <a:prstGeom prst="rect">
            <a:avLst/>
          </a:prstGeom>
          <a:noFill/>
        </p:spPr>
        <p:txBody>
          <a:bodyPr wrap="square" rtlCol="0">
            <a:spAutoFit/>
          </a:bodyPr>
          <a:lstStyle/>
          <a:p>
            <a:r>
              <a:rPr lang="en-US" sz="1000" b="1" dirty="0">
                <a:latin typeface="Times New Roman" panose="02020603050405020304" pitchFamily="18" charset="0"/>
                <a:cs typeface="Times New Roman" panose="02020603050405020304" pitchFamily="18" charset="0"/>
              </a:rPr>
              <a:t>Others</a:t>
            </a:r>
          </a:p>
        </p:txBody>
      </p:sp>
    </p:spTree>
    <p:extLst>
      <p:ext uri="{BB962C8B-B14F-4D97-AF65-F5344CB8AC3E}">
        <p14:creationId xmlns:p14="http://schemas.microsoft.com/office/powerpoint/2010/main" val="2175993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2ED539-BD15-2FB1-7062-E99F4EFD0ED7}"/>
              </a:ext>
            </a:extLst>
          </p:cNvPr>
          <p:cNvSpPr>
            <a:spLocks noGrp="1"/>
          </p:cNvSpPr>
          <p:nvPr>
            <p:ph type="title"/>
          </p:nvPr>
        </p:nvSpPr>
        <p:spPr>
          <a:xfrm>
            <a:off x="838200" y="304803"/>
            <a:ext cx="10515600" cy="962137"/>
          </a:xfrm>
        </p:spPr>
        <p:txBody>
          <a:bodyPr/>
          <a:lstStyle/>
          <a:p>
            <a:r>
              <a:rPr lang="en-US" dirty="0"/>
              <a:t>Slump in Conversion Rates</a:t>
            </a:r>
          </a:p>
        </p:txBody>
      </p:sp>
      <p:pic>
        <p:nvPicPr>
          <p:cNvPr id="8" name="Content Placeholder 7" descr="A graph with different colored lines&#10;&#10;Description automatically generated">
            <a:extLst>
              <a:ext uri="{FF2B5EF4-FFF2-40B4-BE49-F238E27FC236}">
                <a16:creationId xmlns:a16="http://schemas.microsoft.com/office/drawing/2014/main" id="{4D966BE7-32E4-0DDA-35E7-F34919E9261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51900" y="4572000"/>
            <a:ext cx="10701899" cy="1817784"/>
          </a:xfrm>
        </p:spPr>
      </p:pic>
      <p:pic>
        <p:nvPicPr>
          <p:cNvPr id="10" name="Picture 9" descr="A screenshot of a graph&#10;&#10;Description automatically generated">
            <a:extLst>
              <a:ext uri="{FF2B5EF4-FFF2-40B4-BE49-F238E27FC236}">
                <a16:creationId xmlns:a16="http://schemas.microsoft.com/office/drawing/2014/main" id="{E2499314-57A1-34CA-5D64-9806BE970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399" y="1476222"/>
            <a:ext cx="7772400" cy="2977116"/>
          </a:xfrm>
          <a:prstGeom prst="rect">
            <a:avLst/>
          </a:prstGeom>
        </p:spPr>
      </p:pic>
      <p:sp>
        <p:nvSpPr>
          <p:cNvPr id="11" name="TextBox 10">
            <a:extLst>
              <a:ext uri="{FF2B5EF4-FFF2-40B4-BE49-F238E27FC236}">
                <a16:creationId xmlns:a16="http://schemas.microsoft.com/office/drawing/2014/main" id="{826D3751-C83C-4457-6F47-FE266ADFE1FF}"/>
              </a:ext>
            </a:extLst>
          </p:cNvPr>
          <p:cNvSpPr txBox="1"/>
          <p:nvPr/>
        </p:nvSpPr>
        <p:spPr>
          <a:xfrm>
            <a:off x="838201" y="1465244"/>
            <a:ext cx="2422792" cy="2800767"/>
          </a:xfrm>
          <a:prstGeom prst="rect">
            <a:avLst/>
          </a:prstGeom>
          <a:noFill/>
        </p:spPr>
        <p:txBody>
          <a:bodyPr wrap="square" rtlCol="0">
            <a:spAutoFit/>
          </a:bodyPr>
          <a:lstStyle/>
          <a:p>
            <a:r>
              <a:rPr lang="en-US" sz="1600" b="1" dirty="0">
                <a:solidFill>
                  <a:schemeClr val="tx1">
                    <a:lumMod val="50000"/>
                    <a:lumOff val="50000"/>
                  </a:schemeClr>
                </a:solidFill>
                <a:latin typeface="Times New Roman" panose="02020603050405020304" pitchFamily="18" charset="0"/>
                <a:cs typeface="Times New Roman" panose="02020603050405020304" pitchFamily="18" charset="0"/>
              </a:rPr>
              <a:t>The data suggests a concerning trend of declining conversion rates and transaction volumes for both returning and new users. However, there are positive signs in the form of increased average order values for both user segments</a:t>
            </a:r>
          </a:p>
        </p:txBody>
      </p:sp>
    </p:spTree>
    <p:extLst>
      <p:ext uri="{BB962C8B-B14F-4D97-AF65-F5344CB8AC3E}">
        <p14:creationId xmlns:p14="http://schemas.microsoft.com/office/powerpoint/2010/main" val="1739263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7F384-CC44-58F8-BB1D-ABE696D80D81}"/>
              </a:ext>
            </a:extLst>
          </p:cNvPr>
          <p:cNvSpPr>
            <a:spLocks noGrp="1"/>
          </p:cNvSpPr>
          <p:nvPr>
            <p:ph type="title"/>
          </p:nvPr>
        </p:nvSpPr>
        <p:spPr/>
        <p:txBody>
          <a:bodyPr/>
          <a:lstStyle/>
          <a:p>
            <a:r>
              <a:rPr lang="en-US" dirty="0"/>
              <a:t>Overall Revenue vs Transactions</a:t>
            </a:r>
          </a:p>
        </p:txBody>
      </p:sp>
      <p:graphicFrame>
        <p:nvGraphicFramePr>
          <p:cNvPr id="8" name="Chart 7">
            <a:extLst>
              <a:ext uri="{FF2B5EF4-FFF2-40B4-BE49-F238E27FC236}">
                <a16:creationId xmlns:a16="http://schemas.microsoft.com/office/drawing/2014/main" id="{A0710613-C01B-FEF3-416B-C3EC98C50DC5}"/>
              </a:ext>
            </a:extLst>
          </p:cNvPr>
          <p:cNvGraphicFramePr/>
          <p:nvPr>
            <p:extLst>
              <p:ext uri="{D42A27DB-BD31-4B8C-83A1-F6EECF244321}">
                <p14:modId xmlns:p14="http://schemas.microsoft.com/office/powerpoint/2010/main" val="2518508762"/>
              </p:ext>
            </p:extLst>
          </p:nvPr>
        </p:nvGraphicFramePr>
        <p:xfrm>
          <a:off x="6246257" y="1777777"/>
          <a:ext cx="5257800" cy="31192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ontent Placeholder 12">
            <a:extLst>
              <a:ext uri="{FF2B5EF4-FFF2-40B4-BE49-F238E27FC236}">
                <a16:creationId xmlns:a16="http://schemas.microsoft.com/office/drawing/2014/main" id="{6A900383-08D6-646E-2E85-83CFC6A6EE7E}"/>
              </a:ext>
            </a:extLst>
          </p:cNvPr>
          <p:cNvGraphicFramePr>
            <a:graphicFrameLocks noGrp="1"/>
          </p:cNvGraphicFramePr>
          <p:nvPr>
            <p:ph sz="quarter" idx="13"/>
            <p:extLst>
              <p:ext uri="{D42A27DB-BD31-4B8C-83A1-F6EECF244321}">
                <p14:modId xmlns:p14="http://schemas.microsoft.com/office/powerpoint/2010/main" val="2478853301"/>
              </p:ext>
            </p:extLst>
          </p:nvPr>
        </p:nvGraphicFramePr>
        <p:xfrm>
          <a:off x="838201" y="1838326"/>
          <a:ext cx="5107543" cy="3058716"/>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3904BB4E-9D61-A98E-84B9-83BE43FD6A89}"/>
              </a:ext>
            </a:extLst>
          </p:cNvPr>
          <p:cNvSpPr txBox="1"/>
          <p:nvPr/>
        </p:nvSpPr>
        <p:spPr>
          <a:xfrm>
            <a:off x="1002535" y="5122843"/>
            <a:ext cx="10153145" cy="923330"/>
          </a:xfrm>
          <a:prstGeom prst="rect">
            <a:avLst/>
          </a:prstGeom>
          <a:noFill/>
        </p:spPr>
        <p:txBody>
          <a:bodyPr wrap="square" rtlCol="0">
            <a:spAutoFit/>
          </a:bodyPr>
          <a:lstStyle/>
          <a:p>
            <a:r>
              <a:rPr lang="en-US" dirty="0">
                <a:solidFill>
                  <a:schemeClr val="tx1">
                    <a:lumMod val="50000"/>
                    <a:lumOff val="50000"/>
                  </a:schemeClr>
                </a:solidFill>
                <a:latin typeface="Times New Roman" panose="02020603050405020304" pitchFamily="18" charset="0"/>
                <a:cs typeface="Times New Roman" panose="02020603050405020304" pitchFamily="18" charset="0"/>
              </a:rPr>
              <a:t>We notice that the revenue has slumped from $221776 to $199434</a:t>
            </a:r>
            <a:r>
              <a:rPr lang="en-US" b="1" dirty="0">
                <a:solidFill>
                  <a:schemeClr val="tx1">
                    <a:lumMod val="50000"/>
                    <a:lumOff val="50000"/>
                  </a:schemeClr>
                </a:solidFill>
                <a:latin typeface="Times New Roman" panose="02020603050405020304" pitchFamily="18" charset="0"/>
                <a:cs typeface="Times New Roman" panose="02020603050405020304" pitchFamily="18" charset="0"/>
              </a:rPr>
              <a:t>(-10.07%) </a:t>
            </a:r>
            <a:r>
              <a:rPr lang="en-US" dirty="0">
                <a:solidFill>
                  <a:schemeClr val="tx1">
                    <a:lumMod val="50000"/>
                    <a:lumOff val="50000"/>
                  </a:schemeClr>
                </a:solidFill>
                <a:latin typeface="Times New Roman" panose="02020603050405020304" pitchFamily="18" charset="0"/>
                <a:cs typeface="Times New Roman" panose="02020603050405020304" pitchFamily="18" charset="0"/>
              </a:rPr>
              <a:t>since the past year whereas ,</a:t>
            </a:r>
          </a:p>
          <a:p>
            <a:r>
              <a:rPr lang="en-US" dirty="0">
                <a:solidFill>
                  <a:schemeClr val="tx1">
                    <a:lumMod val="50000"/>
                    <a:lumOff val="50000"/>
                  </a:schemeClr>
                </a:solidFill>
                <a:latin typeface="Times New Roman" panose="02020603050405020304" pitchFamily="18" charset="0"/>
                <a:cs typeface="Times New Roman" panose="02020603050405020304" pitchFamily="18" charset="0"/>
              </a:rPr>
              <a:t>The number of transactions has also dipped from 2349 to 1673</a:t>
            </a:r>
            <a:r>
              <a:rPr lang="en-US" b="1" dirty="0">
                <a:solidFill>
                  <a:schemeClr val="tx1">
                    <a:lumMod val="50000"/>
                    <a:lumOff val="50000"/>
                  </a:schemeClr>
                </a:solidFill>
                <a:latin typeface="Times New Roman" panose="02020603050405020304" pitchFamily="18" charset="0"/>
                <a:cs typeface="Times New Roman" panose="02020603050405020304" pitchFamily="18" charset="0"/>
              </a:rPr>
              <a:t>(-28.8%</a:t>
            </a:r>
            <a:r>
              <a:rPr lang="en-US" dirty="0">
                <a:solidFill>
                  <a:schemeClr val="tx1">
                    <a:lumMod val="50000"/>
                    <a:lumOff val="50000"/>
                  </a:schemeClr>
                </a:solidFill>
                <a:latin typeface="Times New Roman" panose="02020603050405020304" pitchFamily="18" charset="0"/>
                <a:cs typeface="Times New Roman" panose="02020603050405020304" pitchFamily="18" charset="0"/>
              </a:rPr>
              <a:t>) </a:t>
            </a:r>
          </a:p>
          <a:p>
            <a:r>
              <a:rPr lang="en-US" dirty="0">
                <a:solidFill>
                  <a:schemeClr val="tx1">
                    <a:lumMod val="50000"/>
                    <a:lumOff val="50000"/>
                  </a:schemeClr>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77798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082093-84D2-9117-D131-2953FF32FE98}"/>
              </a:ext>
            </a:extLst>
          </p:cNvPr>
          <p:cNvSpPr>
            <a:spLocks noGrp="1"/>
          </p:cNvSpPr>
          <p:nvPr>
            <p:ph type="title"/>
          </p:nvPr>
        </p:nvSpPr>
        <p:spPr/>
        <p:txBody>
          <a:bodyPr/>
          <a:lstStyle/>
          <a:p>
            <a:r>
              <a:rPr lang="en-US" dirty="0" err="1"/>
              <a:t>Recomendations</a:t>
            </a:r>
            <a:r>
              <a:rPr lang="en-US" dirty="0"/>
              <a:t> for Revenue Boost</a:t>
            </a:r>
          </a:p>
        </p:txBody>
      </p:sp>
      <p:sp>
        <p:nvSpPr>
          <p:cNvPr id="6" name="Content Placeholder 5">
            <a:extLst>
              <a:ext uri="{FF2B5EF4-FFF2-40B4-BE49-F238E27FC236}">
                <a16:creationId xmlns:a16="http://schemas.microsoft.com/office/drawing/2014/main" id="{9D86195D-E185-6644-293E-8B3047494087}"/>
              </a:ext>
            </a:extLst>
          </p:cNvPr>
          <p:cNvSpPr>
            <a:spLocks noGrp="1"/>
          </p:cNvSpPr>
          <p:nvPr>
            <p:ph sz="half" idx="13"/>
          </p:nvPr>
        </p:nvSpPr>
        <p:spPr>
          <a:xfrm>
            <a:off x="838200" y="1825625"/>
            <a:ext cx="3450771" cy="4297680"/>
          </a:xfrm>
        </p:spPr>
        <p:txBody>
          <a:bodyPr>
            <a:normAutofit/>
          </a:bodyPr>
          <a:lstStyle/>
          <a:p>
            <a:pPr>
              <a:lnSpc>
                <a:spcPct val="150000"/>
              </a:lnSpc>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Improve customer retention strategies:</a:t>
            </a:r>
            <a:endParaRPr lang="en-US" sz="16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The significant drop in revenue (-10.07%), conversion rate, and transactions (-28.8%) for returning users is a major concern. Implement targeted loyalty programs, personalized promotions, and re-engagement campaigns to retain existing customers and incentivize repeat purchases.</a:t>
            </a:r>
            <a:endParaRPr lang="en-US" sz="1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873E770-8603-CBF0-C9C8-D6CC0D7169D0}"/>
              </a:ext>
            </a:extLst>
          </p:cNvPr>
          <p:cNvSpPr>
            <a:spLocks noGrp="1"/>
          </p:cNvSpPr>
          <p:nvPr>
            <p:ph sz="half" idx="2"/>
          </p:nvPr>
        </p:nvSpPr>
        <p:spPr>
          <a:xfrm>
            <a:off x="4572001" y="1825625"/>
            <a:ext cx="3450771" cy="4175125"/>
          </a:xfrm>
        </p:spPr>
        <p:txBody>
          <a:bodyPr>
            <a:normAutofit fontScale="92500"/>
          </a:bodyPr>
          <a:lstStyle/>
          <a:p>
            <a:pPr>
              <a:lnSpc>
                <a:spcPct val="150000"/>
              </a:lnSpc>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Leverage the increase in average order value:</a:t>
            </a:r>
          </a:p>
          <a:p>
            <a:pPr>
              <a:lnSpc>
                <a:spcPct val="150000"/>
              </a:lnSpc>
            </a:pPr>
            <a:r>
              <a:rPr lang="en-US" sz="1600" dirty="0">
                <a:latin typeface="Times New Roman" panose="02020603050405020304" pitchFamily="18" charset="0"/>
                <a:cs typeface="Times New Roman" panose="02020603050405020304" pitchFamily="18" charset="0"/>
              </a:rPr>
              <a:t>Leverage the increase in average order value: Both returning and new users have shown an increase in average order value (32.63% and 18.51%, respectively). Capitalize on this trend by implementing strategies such as upselling, cross-selling, bundled product offerings, and targeted promotions to encourage larger order sizes and higher spending per transaction.</a:t>
            </a:r>
          </a:p>
        </p:txBody>
      </p:sp>
      <p:sp>
        <p:nvSpPr>
          <p:cNvPr id="8" name="TextBox 7">
            <a:extLst>
              <a:ext uri="{FF2B5EF4-FFF2-40B4-BE49-F238E27FC236}">
                <a16:creationId xmlns:a16="http://schemas.microsoft.com/office/drawing/2014/main" id="{C852A453-E905-0457-FDE0-594714F69989}"/>
              </a:ext>
            </a:extLst>
          </p:cNvPr>
          <p:cNvSpPr txBox="1"/>
          <p:nvPr/>
        </p:nvSpPr>
        <p:spPr>
          <a:xfrm>
            <a:off x="8592640" y="1825625"/>
            <a:ext cx="3101340" cy="4713598"/>
          </a:xfrm>
          <a:prstGeom prst="rect">
            <a:avLst/>
          </a:prstGeom>
          <a:noFill/>
        </p:spPr>
        <p:txBody>
          <a:bodyPr wrap="square" rtlCol="0">
            <a:spAutoFit/>
          </a:bodyPr>
          <a:lstStyle/>
          <a:p>
            <a:pPr rtl="0">
              <a:lnSpc>
                <a:spcPct val="150000"/>
              </a:lnSpc>
              <a:spcBef>
                <a:spcPts val="0"/>
              </a:spcBef>
              <a:spcAft>
                <a:spcPts val="0"/>
              </a:spcAft>
            </a:pPr>
            <a:r>
              <a:rPr lang="en-US" b="1" i="0" u="none" strike="noStrike" dirty="0">
                <a:solidFill>
                  <a:srgbClr val="000000"/>
                </a:solidFill>
                <a:effectLst/>
                <a:latin typeface="Times New Roman" panose="02020603050405020304" pitchFamily="18" charset="0"/>
                <a:cs typeface="Times New Roman" panose="02020603050405020304" pitchFamily="18" charset="0"/>
              </a:rPr>
              <a:t>Optimize user acquisition and onboarding:</a:t>
            </a:r>
            <a:endParaRPr lang="en-US" b="1" dirty="0">
              <a:solidFill>
                <a:srgbClr val="000000"/>
              </a:solidFill>
              <a:latin typeface="Times New Roman" panose="02020603050405020304" pitchFamily="18" charset="0"/>
              <a:cs typeface="Times New Roman" panose="02020603050405020304" pitchFamily="18" charset="0"/>
            </a:endParaRPr>
          </a:p>
          <a:p>
            <a:pPr rtl="0">
              <a:lnSpc>
                <a:spcPct val="150000"/>
              </a:lnSpc>
              <a:spcBef>
                <a:spcPts val="0"/>
              </a:spcBef>
              <a:spcAft>
                <a:spcPts val="0"/>
              </a:spcAft>
            </a:pPr>
            <a:endParaRPr lang="en-US" sz="1600" dirty="0">
              <a:solidFill>
                <a:srgbClr val="000000"/>
              </a:solidFill>
              <a:latin typeface="Times New Roman" panose="02020603050405020304" pitchFamily="18" charset="0"/>
              <a:cs typeface="Times New Roman" panose="02020603050405020304" pitchFamily="18" charset="0"/>
            </a:endParaRPr>
          </a:p>
          <a:p>
            <a:pPr rtl="0">
              <a:lnSpc>
                <a:spcPct val="150000"/>
              </a:lnSpc>
              <a:spcBef>
                <a:spcPts val="0"/>
              </a:spcBef>
              <a:spcAft>
                <a:spcPts val="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While revenue from new users has slightly increased ,the decreases in conversion rate and transactions suggest room for improvement in acquiring and converting new customers. Review and optimize user acquisition channels, campaigns, and the onboarding to attract and convert more high-quality new users effectively.</a:t>
            </a:r>
            <a:endParaRPr lang="en-US" sz="15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382638"/>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BC90B52-91C7-4BE9-8AE0-180FFFE1100A}">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E60708A-6461-4D7F-883F-7E25D731D326}">
  <ds:schemaRefs>
    <ds:schemaRef ds:uri="http://schemas.microsoft.com/sharepoint/v3/contenttype/forms"/>
  </ds:schemaRefs>
</ds:datastoreItem>
</file>

<file path=customXml/itemProps3.xml><?xml version="1.0" encoding="utf-8"?>
<ds:datastoreItem xmlns:ds="http://schemas.openxmlformats.org/officeDocument/2006/customXml" ds:itemID="{E130005B-6102-4F3C-A26F-485DF1BF9717}">
  <ds:schemaRefs>
    <ds:schemaRef ds:uri="http://purl.org/dc/terms/"/>
    <ds:schemaRef ds:uri="http://schemas.microsoft.com/sharepoint/v3"/>
    <ds:schemaRef ds:uri="16c05727-aa75-4e4a-9b5f-8a80a1165891"/>
    <ds:schemaRef ds:uri="230e9df3-be65-4c73-a93b-d1236ebd677e"/>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purl.org/dc/dcmitype/"/>
    <ds:schemaRef ds:uri="http://schemas.openxmlformats.org/package/2006/metadata/core-properties"/>
    <ds:schemaRef ds:uri="71af3243-3dd4-4a8d-8c0d-dd76da1f02a5"/>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{B49676F8-F54F-4CC9-9275-99418332655A}tf78504181_win32</Template>
  <TotalTime>1232</TotalTime>
  <Words>1356</Words>
  <Application>Microsoft Macintosh PowerPoint</Application>
  <PresentationFormat>Widescreen</PresentationFormat>
  <Paragraphs>106</Paragraphs>
  <Slides>21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Aptos</vt:lpstr>
      <vt:lpstr>Arial</vt:lpstr>
      <vt:lpstr>Avenir Next LT Pro</vt:lpstr>
      <vt:lpstr>Avenir Next LT Pro Light</vt:lpstr>
      <vt:lpstr>Calibri</vt:lpstr>
      <vt:lpstr>Segoe UI</vt:lpstr>
      <vt:lpstr>Times New Roman</vt:lpstr>
      <vt:lpstr>Tw Cen MT</vt:lpstr>
      <vt:lpstr>Custom</vt:lpstr>
      <vt:lpstr>MARKETING WEB ANALYTICS &amp; INSIGHTS PROJECT</vt:lpstr>
      <vt:lpstr>Company Overview</vt:lpstr>
      <vt:lpstr>Business Objectives</vt:lpstr>
      <vt:lpstr>Key Performance Indicators (KPIs) and Metrics</vt:lpstr>
      <vt:lpstr> New Visitors V/S Returning Visitors</vt:lpstr>
      <vt:lpstr>Users by Channels and Session Duration</vt:lpstr>
      <vt:lpstr>Observations</vt:lpstr>
      <vt:lpstr>Users and Transactions by Device Category</vt:lpstr>
      <vt:lpstr>Recommendations for User Acquisition</vt:lpstr>
      <vt:lpstr>KPI 2:-Checkout Abandonment Rate by Browser</vt:lpstr>
      <vt:lpstr>PowerPoint Presentation</vt:lpstr>
      <vt:lpstr>PowerPoint Presentation</vt:lpstr>
      <vt:lpstr>Source/ Medium</vt:lpstr>
      <vt:lpstr>PowerPoint Presentation</vt:lpstr>
      <vt:lpstr>Device</vt:lpstr>
      <vt:lpstr>PowerPoint Presentation</vt:lpstr>
      <vt:lpstr>Recommendations for Abandonment Rate</vt:lpstr>
      <vt:lpstr> Overall Product Performance</vt:lpstr>
      <vt:lpstr>Slump in Conversion Rates</vt:lpstr>
      <vt:lpstr>Overall Revenue vs Transactions</vt:lpstr>
      <vt:lpstr>Recomendations for Revenue Boost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WEB ANALYTICS &amp; INSIGHTS PROJECT</dc:title>
  <dc:creator>Dham, Raveen Kaur Gurmeet Singh</dc:creator>
  <cp:lastModifiedBy>Patel, Hitarth</cp:lastModifiedBy>
  <cp:revision>41</cp:revision>
  <dcterms:created xsi:type="dcterms:W3CDTF">2024-04-17T22:28:35Z</dcterms:created>
  <dcterms:modified xsi:type="dcterms:W3CDTF">2024-05-01T10:48:33Z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